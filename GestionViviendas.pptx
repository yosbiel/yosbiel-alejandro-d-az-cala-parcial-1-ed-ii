
<file path=[Content_Types].xml><?xml version="1.0" encoding="utf-8"?>
<Types xmlns="http://schemas.openxmlformats.org/package/2006/content-types">
  <Default Extension="png" ContentType="image/png"/>
  <Default Extension="mp3" ContentType="audio/unknown"/>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sldIdLst>
    <p:sldId id="256" r:id="rId3"/>
    <p:sldId id="257" r:id="rId4"/>
    <p:sldId id="258" r:id="rId5"/>
    <p:sldId id="259" r:id="rId6"/>
    <p:sldId id="260" r:id="rId7"/>
    <p:sldId id="261" r:id="rId8"/>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6" d="100"/>
          <a:sy n="66" d="100"/>
        </p:scale>
        <p:origin x="-1506" y="-18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4" name="3 Marcador de fecha"/>
          <p:cNvSpPr>
            <a:spLocks noGrp="1"/>
          </p:cNvSpPr>
          <p:nvPr>
            <p:ph type="dt" sz="half" idx="10"/>
          </p:nvPr>
        </p:nvSpPr>
        <p:spPr/>
        <p:txBody>
          <a:bodyPr/>
          <a:lstStyle/>
          <a:p>
            <a:fld id="{7A847CFC-816F-41D0-AAC0-9BF4FEBC753E}" type="datetimeFigureOut">
              <a:rPr lang="es-ES" smtClean="0"/>
              <a:t>26/03/2026</a:t>
            </a:fld>
            <a:endParaRPr lang="es-ES" dirty="0"/>
          </a:p>
        </p:txBody>
      </p:sp>
      <p:sp>
        <p:nvSpPr>
          <p:cNvPr id="5" name="4 Marcador de pie de página"/>
          <p:cNvSpPr>
            <a:spLocks noGrp="1"/>
          </p:cNvSpPr>
          <p:nvPr>
            <p:ph type="ftr" sz="quarter" idx="11"/>
          </p:nvPr>
        </p:nvSpPr>
        <p:spPr/>
        <p:txBody>
          <a:bodyPr/>
          <a:lstStyle/>
          <a:p>
            <a:endParaRPr lang="es-ES" dirty="0"/>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7A847CFC-816F-41D0-AAC0-9BF4FEBC753E}" type="datetimeFigureOut">
              <a:rPr lang="es-ES" smtClean="0"/>
              <a:t>26/03/2026</a:t>
            </a:fld>
            <a:endParaRPr lang="es-ES" dirty="0"/>
          </a:p>
        </p:txBody>
      </p:sp>
      <p:sp>
        <p:nvSpPr>
          <p:cNvPr id="5" name="4 Marcador de pie de página"/>
          <p:cNvSpPr>
            <a:spLocks noGrp="1"/>
          </p:cNvSpPr>
          <p:nvPr>
            <p:ph type="ftr" sz="quarter" idx="11"/>
          </p:nvPr>
        </p:nvSpPr>
        <p:spPr/>
        <p:txBody>
          <a:bodyPr/>
          <a:lstStyle/>
          <a:p>
            <a:endParaRPr lang="es-ES" dirty="0"/>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7A847CFC-816F-41D0-AAC0-9BF4FEBC753E}" type="datetimeFigureOut">
              <a:rPr lang="es-ES" smtClean="0"/>
              <a:t>26/03/2026</a:t>
            </a:fld>
            <a:endParaRPr lang="es-ES" dirty="0"/>
          </a:p>
        </p:txBody>
      </p:sp>
      <p:sp>
        <p:nvSpPr>
          <p:cNvPr id="5" name="4 Marcador de pie de página"/>
          <p:cNvSpPr>
            <a:spLocks noGrp="1"/>
          </p:cNvSpPr>
          <p:nvPr>
            <p:ph type="ftr" sz="quarter" idx="11"/>
          </p:nvPr>
        </p:nvSpPr>
        <p:spPr/>
        <p:txBody>
          <a:bodyPr/>
          <a:lstStyle/>
          <a:p>
            <a:endParaRPr lang="es-ES" dirty="0"/>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fecha"/>
          <p:cNvSpPr>
            <a:spLocks noGrp="1"/>
          </p:cNvSpPr>
          <p:nvPr>
            <p:ph type="dt" sz="half" idx="10"/>
          </p:nvPr>
        </p:nvSpPr>
        <p:spPr/>
        <p:txBody>
          <a:bodyPr/>
          <a:lstStyle/>
          <a:p>
            <a:fld id="{7A847CFC-816F-41D0-AAC0-9BF4FEBC753E}" type="datetimeFigureOut">
              <a:rPr lang="es-ES" smtClean="0"/>
              <a:t>26/03/2026</a:t>
            </a:fld>
            <a:endParaRPr lang="es-ES" dirty="0"/>
          </a:p>
        </p:txBody>
      </p:sp>
      <p:sp>
        <p:nvSpPr>
          <p:cNvPr id="6" name="5 Marcador de pie de página"/>
          <p:cNvSpPr>
            <a:spLocks noGrp="1"/>
          </p:cNvSpPr>
          <p:nvPr>
            <p:ph type="ftr" sz="quarter" idx="11"/>
          </p:nvPr>
        </p:nvSpPr>
        <p:spPr/>
        <p:txBody>
          <a:bodyPr/>
          <a:lstStyle/>
          <a:p>
            <a:endParaRPr lang="es-ES" dirty="0"/>
          </a:p>
        </p:txBody>
      </p:sp>
      <p:sp>
        <p:nvSpPr>
          <p:cNvPr id="7" name="6 Marcador de número de diapositiva"/>
          <p:cNvSpPr>
            <a:spLocks noGrp="1"/>
          </p:cNvSpPr>
          <p:nvPr>
            <p:ph type="sldNum" sz="quarter" idx="12"/>
          </p:nvPr>
        </p:nvSpPr>
        <p:spPr/>
        <p:txBody>
          <a:bodyPr/>
          <a:lstStyle/>
          <a:p>
            <a:fld id="{132FADFE-3B8F-471C-ABF0-DBC7717ECBBC}" type="slidenum">
              <a:rPr lang="es-ES" smtClean="0"/>
              <a:t>‹Nº›</a:t>
            </a:fld>
            <a:endParaRPr lang="es-E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6 Marcador de fecha"/>
          <p:cNvSpPr>
            <a:spLocks noGrp="1"/>
          </p:cNvSpPr>
          <p:nvPr>
            <p:ph type="dt" sz="half" idx="10"/>
          </p:nvPr>
        </p:nvSpPr>
        <p:spPr/>
        <p:txBody>
          <a:bodyPr/>
          <a:lstStyle/>
          <a:p>
            <a:fld id="{7A847CFC-816F-41D0-AAC0-9BF4FEBC753E}" type="datetimeFigureOut">
              <a:rPr lang="es-ES" smtClean="0"/>
              <a:t>26/03/2026</a:t>
            </a:fld>
            <a:endParaRPr lang="es-ES" dirty="0"/>
          </a:p>
        </p:txBody>
      </p:sp>
      <p:sp>
        <p:nvSpPr>
          <p:cNvPr id="8" name="7 Marcador de pie de página"/>
          <p:cNvSpPr>
            <a:spLocks noGrp="1"/>
          </p:cNvSpPr>
          <p:nvPr>
            <p:ph type="ftr" sz="quarter" idx="11"/>
          </p:nvPr>
        </p:nvSpPr>
        <p:spPr/>
        <p:txBody>
          <a:bodyPr/>
          <a:lstStyle/>
          <a:p>
            <a:endParaRPr lang="es-ES" dirty="0"/>
          </a:p>
        </p:txBody>
      </p:sp>
      <p:sp>
        <p:nvSpPr>
          <p:cNvPr id="9" name="8 Marcador de número de diapositiva"/>
          <p:cNvSpPr>
            <a:spLocks noGrp="1"/>
          </p:cNvSpPr>
          <p:nvPr>
            <p:ph type="sldNum" sz="quarter" idx="12"/>
          </p:nvPr>
        </p:nvSpPr>
        <p:spPr/>
        <p:txBody>
          <a:bodyPr/>
          <a:lstStyle/>
          <a:p>
            <a:fld id="{132FADFE-3B8F-471C-ABF0-DBC7717ECBBC}" type="slidenum">
              <a:rPr lang="es-ES" smtClean="0"/>
              <a:t>‹Nº›</a:t>
            </a:fld>
            <a:endParaRPr lang="es-E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fecha"/>
          <p:cNvSpPr>
            <a:spLocks noGrp="1"/>
          </p:cNvSpPr>
          <p:nvPr>
            <p:ph type="dt" sz="half" idx="10"/>
          </p:nvPr>
        </p:nvSpPr>
        <p:spPr/>
        <p:txBody>
          <a:bodyPr/>
          <a:lstStyle/>
          <a:p>
            <a:fld id="{7A847CFC-816F-41D0-AAC0-9BF4FEBC753E}" type="datetimeFigureOut">
              <a:rPr lang="es-ES" smtClean="0"/>
              <a:t>26/03/2026</a:t>
            </a:fld>
            <a:endParaRPr lang="es-ES" dirty="0"/>
          </a:p>
        </p:txBody>
      </p:sp>
      <p:sp>
        <p:nvSpPr>
          <p:cNvPr id="4" name="3 Marcador de pie de página"/>
          <p:cNvSpPr>
            <a:spLocks noGrp="1"/>
          </p:cNvSpPr>
          <p:nvPr>
            <p:ph type="ftr" sz="quarter" idx="11"/>
          </p:nvPr>
        </p:nvSpPr>
        <p:spPr/>
        <p:txBody>
          <a:bodyPr/>
          <a:lstStyle/>
          <a:p>
            <a:endParaRPr lang="es-ES" dirty="0"/>
          </a:p>
        </p:txBody>
      </p:sp>
      <p:sp>
        <p:nvSpPr>
          <p:cNvPr id="5" name="4 Marcador de número de diapositiva"/>
          <p:cNvSpPr>
            <a:spLocks noGrp="1"/>
          </p:cNvSpPr>
          <p:nvPr>
            <p:ph type="sldNum" sz="quarter" idx="12"/>
          </p:nvPr>
        </p:nvSpPr>
        <p:spPr/>
        <p:txBody>
          <a:bodyPr/>
          <a:lstStyle/>
          <a:p>
            <a:fld id="{132FADFE-3B8F-471C-ABF0-DBC7717ECBBC}" type="slidenum">
              <a:rPr lang="es-ES" smtClean="0"/>
              <a:t>‹Nº›</a:t>
            </a:fld>
            <a:endParaRPr lang="es-E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A847CFC-816F-41D0-AAC0-9BF4FEBC753E}" type="datetimeFigureOut">
              <a:rPr lang="es-ES" smtClean="0"/>
              <a:t>26/03/2026</a:t>
            </a:fld>
            <a:endParaRPr lang="es-ES" dirty="0"/>
          </a:p>
        </p:txBody>
      </p:sp>
      <p:sp>
        <p:nvSpPr>
          <p:cNvPr id="3" name="2 Marcador de pie de página"/>
          <p:cNvSpPr>
            <a:spLocks noGrp="1"/>
          </p:cNvSpPr>
          <p:nvPr>
            <p:ph type="ftr" sz="quarter" idx="11"/>
          </p:nvPr>
        </p:nvSpPr>
        <p:spPr/>
        <p:txBody>
          <a:bodyPr/>
          <a:lstStyle/>
          <a:p>
            <a:endParaRPr lang="es-ES"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t>‹Nº›</a:t>
            </a:fld>
            <a:endParaRPr lang="es-E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t>26/03/2026</a:t>
            </a:fld>
            <a:endParaRPr lang="es-ES" dirty="0"/>
          </a:p>
        </p:txBody>
      </p:sp>
      <p:sp>
        <p:nvSpPr>
          <p:cNvPr id="6" name="5 Marcador de pie de página"/>
          <p:cNvSpPr>
            <a:spLocks noGrp="1"/>
          </p:cNvSpPr>
          <p:nvPr>
            <p:ph type="ftr" sz="quarter" idx="11"/>
          </p:nvPr>
        </p:nvSpPr>
        <p:spPr/>
        <p:txBody>
          <a:bodyPr/>
          <a:lstStyle/>
          <a:p>
            <a:endParaRPr lang="es-ES" dirty="0"/>
          </a:p>
        </p:txBody>
      </p:sp>
      <p:sp>
        <p:nvSpPr>
          <p:cNvPr id="7" name="6 Marcador de número de diapositiva"/>
          <p:cNvSpPr>
            <a:spLocks noGrp="1"/>
          </p:cNvSpPr>
          <p:nvPr>
            <p:ph type="sldNum" sz="quarter" idx="12"/>
          </p:nvPr>
        </p:nvSpPr>
        <p:spPr/>
        <p:txBody>
          <a:bodyPr/>
          <a:lstStyle/>
          <a:p>
            <a:fld id="{132FADFE-3B8F-471C-ABF0-DBC7717ECBBC}" type="slidenum">
              <a:rPr lang="es-ES" smtClean="0"/>
              <a:t>‹Nº›</a:t>
            </a:fld>
            <a:endParaRPr lang="es-E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t>26/03/2026</a:t>
            </a:fld>
            <a:endParaRPr lang="es-ES" dirty="0"/>
          </a:p>
        </p:txBody>
      </p:sp>
      <p:sp>
        <p:nvSpPr>
          <p:cNvPr id="6" name="5 Marcador de pie de página"/>
          <p:cNvSpPr>
            <a:spLocks noGrp="1"/>
          </p:cNvSpPr>
          <p:nvPr>
            <p:ph type="ftr" sz="quarter" idx="11"/>
          </p:nvPr>
        </p:nvSpPr>
        <p:spPr/>
        <p:txBody>
          <a:bodyPr/>
          <a:lstStyle/>
          <a:p>
            <a:endParaRPr lang="es-ES" dirty="0"/>
          </a:p>
        </p:txBody>
      </p:sp>
      <p:sp>
        <p:nvSpPr>
          <p:cNvPr id="7" name="6 Marcador de número de diapositiva"/>
          <p:cNvSpPr>
            <a:spLocks noGrp="1"/>
          </p:cNvSpPr>
          <p:nvPr>
            <p:ph type="sldNum" sz="quarter" idx="12"/>
          </p:nvPr>
        </p:nvSpPr>
        <p:spPr/>
        <p:txBody>
          <a:bodyPr/>
          <a:lstStyle/>
          <a:p>
            <a:fld id="{132FADFE-3B8F-471C-ABF0-DBC7717ECBBC}" type="slidenum">
              <a:rPr lang="es-ES" smtClean="0"/>
              <a:t>‹Nº›</a:t>
            </a:fld>
            <a:endParaRPr lang="es-E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7A847CFC-816F-41D0-AAC0-9BF4FEBC753E}" type="datetimeFigureOut">
              <a:rPr lang="es-ES" smtClean="0"/>
              <a:t>26/03/2026</a:t>
            </a:fld>
            <a:endParaRPr lang="es-ES" dirty="0"/>
          </a:p>
        </p:txBody>
      </p:sp>
      <p:sp>
        <p:nvSpPr>
          <p:cNvPr id="5" name="4 Marcador de pie de página"/>
          <p:cNvSpPr>
            <a:spLocks noGrp="1"/>
          </p:cNvSpPr>
          <p:nvPr>
            <p:ph type="ftr" sz="quarter" idx="11"/>
          </p:nvPr>
        </p:nvSpPr>
        <p:spPr/>
        <p:txBody>
          <a:bodyPr/>
          <a:lstStyle/>
          <a:p>
            <a:endParaRPr lang="es-ES" dirty="0"/>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7A847CFC-816F-41D0-AAC0-9BF4FEBC753E}" type="datetimeFigureOut">
              <a:rPr lang="es-ES" smtClean="0"/>
              <a:t>26/03/2026</a:t>
            </a:fld>
            <a:endParaRPr lang="es-ES" dirty="0"/>
          </a:p>
        </p:txBody>
      </p:sp>
      <p:sp>
        <p:nvSpPr>
          <p:cNvPr id="5" name="4 Marcador de pie de página"/>
          <p:cNvSpPr>
            <a:spLocks noGrp="1"/>
          </p:cNvSpPr>
          <p:nvPr>
            <p:ph type="ftr" sz="quarter" idx="11"/>
          </p:nvPr>
        </p:nvSpPr>
        <p:spPr/>
        <p:txBody>
          <a:bodyPr/>
          <a:lstStyle/>
          <a:p>
            <a:endParaRPr lang="es-ES" dirty="0"/>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fecha"/>
          <p:cNvSpPr>
            <a:spLocks noGrp="1"/>
          </p:cNvSpPr>
          <p:nvPr>
            <p:ph type="dt" sz="half" idx="10"/>
          </p:nvPr>
        </p:nvSpPr>
        <p:spPr/>
        <p:txBody>
          <a:bodyPr/>
          <a:lstStyle/>
          <a:p>
            <a:fld id="{7A847CFC-816F-41D0-AAC0-9BF4FEBC753E}" type="datetimeFigureOut">
              <a:rPr lang="es-ES" smtClean="0"/>
              <a:t>26/03/2026</a:t>
            </a:fld>
            <a:endParaRPr lang="es-ES" dirty="0"/>
          </a:p>
        </p:txBody>
      </p:sp>
      <p:sp>
        <p:nvSpPr>
          <p:cNvPr id="4" name="3 Marcador de pie de página"/>
          <p:cNvSpPr>
            <a:spLocks noGrp="1"/>
          </p:cNvSpPr>
          <p:nvPr>
            <p:ph type="ftr" sz="quarter" idx="11"/>
          </p:nvPr>
        </p:nvSpPr>
        <p:spPr/>
        <p:txBody>
          <a:bodyPr/>
          <a:lstStyle/>
          <a:p>
            <a:endParaRPr lang="es-ES" dirty="0"/>
          </a:p>
        </p:txBody>
      </p:sp>
      <p:sp>
        <p:nvSpPr>
          <p:cNvPr id="5" name="4 Marcador de número de diapositiva"/>
          <p:cNvSpPr>
            <a:spLocks noGrp="1"/>
          </p:cNvSpPr>
          <p:nvPr>
            <p:ph type="sldNum" sz="quarter" idx="12"/>
          </p:nvPr>
        </p:nvSpPr>
        <p:spPr/>
        <p:txBody>
          <a:bodyPr/>
          <a:lstStyle/>
          <a:p>
            <a:fld id="{132FADFE-3B8F-471C-ABF0-DBC7717ECBBC}" type="slidenum">
              <a:rPr lang="es-ES" smtClean="0"/>
              <a:t>‹Nº›</a:t>
            </a:fld>
            <a:endParaRPr lang="es-ES" dirty="0"/>
          </a:p>
        </p:txBody>
      </p:sp>
    </p:spTree>
    <p:extLst>
      <p:ext uri="{BB962C8B-B14F-4D97-AF65-F5344CB8AC3E}">
        <p14:creationId xmlns:p14="http://schemas.microsoft.com/office/powerpoint/2010/main" val="2111353956"/>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4" name="3 Marcador de fecha"/>
          <p:cNvSpPr>
            <a:spLocks noGrp="1"/>
          </p:cNvSpPr>
          <p:nvPr>
            <p:ph type="dt" sz="half" idx="10"/>
          </p:nvPr>
        </p:nvSpPr>
        <p:spPr/>
        <p:txBody>
          <a:bodyPr/>
          <a:lstStyle/>
          <a:p>
            <a:fld id="{6D69B871-B644-4611-BE65-160CC4514319}" type="datetimeFigureOut">
              <a:rPr lang="es-ES" smtClean="0"/>
              <a:t>26/03/2026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EED95FC5-8DE5-4307-80A8-28891C6542CD}" type="slidenum">
              <a:rPr lang="es-ES" smtClean="0"/>
              <a:t>‹Nº›</a:t>
            </a:fld>
            <a:endParaRPr lang="es-ES"/>
          </a:p>
        </p:txBody>
      </p:sp>
    </p:spTree>
    <p:extLst>
      <p:ext uri="{BB962C8B-B14F-4D97-AF65-F5344CB8AC3E}">
        <p14:creationId xmlns:p14="http://schemas.microsoft.com/office/powerpoint/2010/main" val="35285572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6D69B871-B644-4611-BE65-160CC4514319}" type="datetimeFigureOut">
              <a:rPr lang="es-ES" smtClean="0"/>
              <a:t>26/03/2026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EED95FC5-8DE5-4307-80A8-28891C6542CD}" type="slidenum">
              <a:rPr lang="es-ES" smtClean="0"/>
              <a:t>‹Nº›</a:t>
            </a:fld>
            <a:endParaRPr lang="es-ES"/>
          </a:p>
        </p:txBody>
      </p:sp>
    </p:spTree>
    <p:extLst>
      <p:ext uri="{BB962C8B-B14F-4D97-AF65-F5344CB8AC3E}">
        <p14:creationId xmlns:p14="http://schemas.microsoft.com/office/powerpoint/2010/main" val="28068566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6D69B871-B644-4611-BE65-160CC4514319}" type="datetimeFigureOut">
              <a:rPr lang="es-ES" smtClean="0"/>
              <a:t>26/03/2026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EED95FC5-8DE5-4307-80A8-28891C6542CD}" type="slidenum">
              <a:rPr lang="es-ES" smtClean="0"/>
              <a:t>‹Nº›</a:t>
            </a:fld>
            <a:endParaRPr lang="es-ES"/>
          </a:p>
        </p:txBody>
      </p:sp>
    </p:spTree>
    <p:extLst>
      <p:ext uri="{BB962C8B-B14F-4D97-AF65-F5344CB8AC3E}">
        <p14:creationId xmlns:p14="http://schemas.microsoft.com/office/powerpoint/2010/main" val="17744053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fecha"/>
          <p:cNvSpPr>
            <a:spLocks noGrp="1"/>
          </p:cNvSpPr>
          <p:nvPr>
            <p:ph type="dt" sz="half" idx="10"/>
          </p:nvPr>
        </p:nvSpPr>
        <p:spPr/>
        <p:txBody>
          <a:bodyPr/>
          <a:lstStyle/>
          <a:p>
            <a:fld id="{6D69B871-B644-4611-BE65-160CC4514319}" type="datetimeFigureOut">
              <a:rPr lang="es-ES" smtClean="0"/>
              <a:t>26/03/2026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EED95FC5-8DE5-4307-80A8-28891C6542CD}" type="slidenum">
              <a:rPr lang="es-ES" smtClean="0"/>
              <a:t>‹Nº›</a:t>
            </a:fld>
            <a:endParaRPr lang="es-ES"/>
          </a:p>
        </p:txBody>
      </p:sp>
    </p:spTree>
    <p:extLst>
      <p:ext uri="{BB962C8B-B14F-4D97-AF65-F5344CB8AC3E}">
        <p14:creationId xmlns:p14="http://schemas.microsoft.com/office/powerpoint/2010/main" val="12580829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6 Marcador de fecha"/>
          <p:cNvSpPr>
            <a:spLocks noGrp="1"/>
          </p:cNvSpPr>
          <p:nvPr>
            <p:ph type="dt" sz="half" idx="10"/>
          </p:nvPr>
        </p:nvSpPr>
        <p:spPr/>
        <p:txBody>
          <a:bodyPr/>
          <a:lstStyle/>
          <a:p>
            <a:fld id="{6D69B871-B644-4611-BE65-160CC4514319}" type="datetimeFigureOut">
              <a:rPr lang="es-ES" smtClean="0"/>
              <a:t>26/03/2026</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EED95FC5-8DE5-4307-80A8-28891C6542CD}" type="slidenum">
              <a:rPr lang="es-ES" smtClean="0"/>
              <a:t>‹Nº›</a:t>
            </a:fld>
            <a:endParaRPr lang="es-ES"/>
          </a:p>
        </p:txBody>
      </p:sp>
    </p:spTree>
    <p:extLst>
      <p:ext uri="{BB962C8B-B14F-4D97-AF65-F5344CB8AC3E}">
        <p14:creationId xmlns:p14="http://schemas.microsoft.com/office/powerpoint/2010/main" val="16781461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fecha"/>
          <p:cNvSpPr>
            <a:spLocks noGrp="1"/>
          </p:cNvSpPr>
          <p:nvPr>
            <p:ph type="dt" sz="half" idx="10"/>
          </p:nvPr>
        </p:nvSpPr>
        <p:spPr/>
        <p:txBody>
          <a:bodyPr/>
          <a:lstStyle/>
          <a:p>
            <a:fld id="{6D69B871-B644-4611-BE65-160CC4514319}" type="datetimeFigureOut">
              <a:rPr lang="es-ES" smtClean="0"/>
              <a:t>26/03/2026</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EED95FC5-8DE5-4307-80A8-28891C6542CD}" type="slidenum">
              <a:rPr lang="es-ES" smtClean="0"/>
              <a:t>‹Nº›</a:t>
            </a:fld>
            <a:endParaRPr lang="es-ES"/>
          </a:p>
        </p:txBody>
      </p:sp>
    </p:spTree>
    <p:extLst>
      <p:ext uri="{BB962C8B-B14F-4D97-AF65-F5344CB8AC3E}">
        <p14:creationId xmlns:p14="http://schemas.microsoft.com/office/powerpoint/2010/main" val="12228737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6D69B871-B644-4611-BE65-160CC4514319}" type="datetimeFigureOut">
              <a:rPr lang="es-ES" smtClean="0"/>
              <a:t>26/03/2026</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EED95FC5-8DE5-4307-80A8-28891C6542CD}" type="slidenum">
              <a:rPr lang="es-ES" smtClean="0"/>
              <a:t>‹Nº›</a:t>
            </a:fld>
            <a:endParaRPr lang="es-ES"/>
          </a:p>
        </p:txBody>
      </p:sp>
    </p:spTree>
    <p:extLst>
      <p:ext uri="{BB962C8B-B14F-4D97-AF65-F5344CB8AC3E}">
        <p14:creationId xmlns:p14="http://schemas.microsoft.com/office/powerpoint/2010/main" val="17158529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6D69B871-B644-4611-BE65-160CC4514319}" type="datetimeFigureOut">
              <a:rPr lang="es-ES" smtClean="0"/>
              <a:t>26/03/2026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EED95FC5-8DE5-4307-80A8-28891C6542CD}" type="slidenum">
              <a:rPr lang="es-ES" smtClean="0"/>
              <a:t>‹Nº›</a:t>
            </a:fld>
            <a:endParaRPr lang="es-ES"/>
          </a:p>
        </p:txBody>
      </p:sp>
    </p:spTree>
    <p:extLst>
      <p:ext uri="{BB962C8B-B14F-4D97-AF65-F5344CB8AC3E}">
        <p14:creationId xmlns:p14="http://schemas.microsoft.com/office/powerpoint/2010/main" val="25517571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6D69B871-B644-4611-BE65-160CC4514319}" type="datetimeFigureOut">
              <a:rPr lang="es-ES" smtClean="0"/>
              <a:t>26/03/2026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EED95FC5-8DE5-4307-80A8-28891C6542CD}" type="slidenum">
              <a:rPr lang="es-ES" smtClean="0"/>
              <a:t>‹Nº›</a:t>
            </a:fld>
            <a:endParaRPr lang="es-ES"/>
          </a:p>
        </p:txBody>
      </p:sp>
    </p:spTree>
    <p:extLst>
      <p:ext uri="{BB962C8B-B14F-4D97-AF65-F5344CB8AC3E}">
        <p14:creationId xmlns:p14="http://schemas.microsoft.com/office/powerpoint/2010/main" val="41890675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6D69B871-B644-4611-BE65-160CC4514319}" type="datetimeFigureOut">
              <a:rPr lang="es-ES" smtClean="0"/>
              <a:t>26/03/2026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EED95FC5-8DE5-4307-80A8-28891C6542CD}" type="slidenum">
              <a:rPr lang="es-ES" smtClean="0"/>
              <a:t>‹Nº›</a:t>
            </a:fld>
            <a:endParaRPr lang="es-ES"/>
          </a:p>
        </p:txBody>
      </p:sp>
    </p:spTree>
    <p:extLst>
      <p:ext uri="{BB962C8B-B14F-4D97-AF65-F5344CB8AC3E}">
        <p14:creationId xmlns:p14="http://schemas.microsoft.com/office/powerpoint/2010/main" val="10436248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6D69B871-B644-4611-BE65-160CC4514319}" type="datetimeFigureOut">
              <a:rPr lang="es-ES" smtClean="0"/>
              <a:t>26/03/2026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EED95FC5-8DE5-4307-80A8-28891C6542CD}" type="slidenum">
              <a:rPr lang="es-ES" smtClean="0"/>
              <a:t>‹Nº›</a:t>
            </a:fld>
            <a:endParaRPr lang="es-ES"/>
          </a:p>
        </p:txBody>
      </p:sp>
    </p:spTree>
    <p:extLst>
      <p:ext uri="{BB962C8B-B14F-4D97-AF65-F5344CB8AC3E}">
        <p14:creationId xmlns:p14="http://schemas.microsoft.com/office/powerpoint/2010/main" val="15987955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l="-11000" r="-11000"/>
          </a:stretch>
        </a:blip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847CFC-816F-41D0-AAC0-9BF4FEBC753E}" type="datetimeFigureOut">
              <a:rPr lang="es-ES" smtClean="0"/>
              <a:t>26/03/2026</a:t>
            </a:fld>
            <a:endParaRPr lang="es-ES" dirty="0"/>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dirty="0"/>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2FADFE-3B8F-471C-ABF0-DBC7717ECBBC}" type="slidenum">
              <a:rPr lang="es-ES" smtClean="0"/>
              <a:t>‹Nº›</a:t>
            </a:fld>
            <a:endParaRPr lang="es-E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l="-11000" r="-11000"/>
          </a:stretch>
        </a:blip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69B871-B644-4611-BE65-160CC4514319}" type="datetimeFigureOut">
              <a:rPr lang="es-ES" smtClean="0"/>
              <a:t>26/03/2026</a:t>
            </a:fld>
            <a:endParaRPr lang="es-E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D95FC5-8DE5-4307-80A8-28891C6542CD}" type="slidenum">
              <a:rPr lang="es-ES" smtClean="0"/>
              <a:t>‹Nº›</a:t>
            </a:fld>
            <a:endParaRPr lang="es-ES"/>
          </a:p>
        </p:txBody>
      </p:sp>
    </p:spTree>
    <p:extLst>
      <p:ext uri="{BB962C8B-B14F-4D97-AF65-F5344CB8AC3E}">
        <p14:creationId xmlns:p14="http://schemas.microsoft.com/office/powerpoint/2010/main" val="251149574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p3"/><Relationship Id="rId1" Type="http://schemas.microsoft.com/office/2007/relationships/media" Target="../media/media2.mp3"/><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2.pn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2.xml"/><Relationship Id="rId7" Type="http://schemas.openxmlformats.org/officeDocument/2006/relationships/image" Target="../media/image7.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7.xml"/><Relationship Id="rId7" Type="http://schemas.openxmlformats.org/officeDocument/2006/relationships/image" Target="../media/image11.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6.mp3"/><Relationship Id="rId1" Type="http://schemas.microsoft.com/office/2007/relationships/media" Target="../media/media6.mp3"/><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971600" y="980728"/>
            <a:ext cx="6552728" cy="1446550"/>
          </a:xfrm>
          <a:prstGeom prst="rect">
            <a:avLst/>
          </a:prstGeom>
          <a:noFill/>
        </p:spPr>
        <p:txBody>
          <a:bodyPr wrap="square" rtlCol="0">
            <a:spAutoFit/>
          </a:bodyPr>
          <a:lstStyle/>
          <a:p>
            <a:pPr algn="r"/>
            <a:r>
              <a:rPr lang="es-ES" sz="4400" dirty="0" smtClean="0">
                <a:latin typeface="Franklin Gothic Heavy" pitchFamily="34" charset="0"/>
              </a:rPr>
              <a:t>Sistema de Gestión de Viviendas en Guane</a:t>
            </a:r>
            <a:endParaRPr lang="es-ES" sz="4400" dirty="0">
              <a:latin typeface="Franklin Gothic Heavy" pitchFamily="34" charset="0"/>
            </a:endParaRPr>
          </a:p>
        </p:txBody>
      </p:sp>
      <p:sp>
        <p:nvSpPr>
          <p:cNvPr id="5" name="4 CuadroTexto"/>
          <p:cNvSpPr txBox="1"/>
          <p:nvPr/>
        </p:nvSpPr>
        <p:spPr>
          <a:xfrm>
            <a:off x="720461" y="4437112"/>
            <a:ext cx="4248472" cy="2031325"/>
          </a:xfrm>
          <a:prstGeom prst="rect">
            <a:avLst/>
          </a:prstGeom>
          <a:noFill/>
        </p:spPr>
        <p:txBody>
          <a:bodyPr wrap="square" rtlCol="0">
            <a:spAutoFit/>
          </a:bodyPr>
          <a:lstStyle/>
          <a:p>
            <a:r>
              <a:rPr lang="es-ES" b="1" u="sng" dirty="0" smtClean="0">
                <a:latin typeface="Bahnschrift SemiBold SemiConden" pitchFamily="34" charset="0"/>
              </a:rPr>
              <a:t>Estudiante</a:t>
            </a:r>
            <a:r>
              <a:rPr lang="es-ES" dirty="0" smtClean="0">
                <a:latin typeface="Bahnschrift SemiBold SemiConden" pitchFamily="34" charset="0"/>
              </a:rPr>
              <a:t>: </a:t>
            </a:r>
            <a:r>
              <a:rPr lang="es-ES" dirty="0" smtClean="0">
                <a:latin typeface="Bahnschrift Light Condensed" pitchFamily="34" charset="0"/>
              </a:rPr>
              <a:t>Yosbiel Alejandro Díaz Cala</a:t>
            </a:r>
          </a:p>
          <a:p>
            <a:r>
              <a:rPr lang="es-ES" b="1" u="sng" dirty="0" smtClean="0">
                <a:latin typeface="Bahnschrift SemiBold SemiConden" pitchFamily="34" charset="0"/>
              </a:rPr>
              <a:t>Asignatura</a:t>
            </a:r>
            <a:r>
              <a:rPr lang="es-ES" dirty="0" smtClean="0">
                <a:latin typeface="Bahnschrift SemiBold SemiConden" pitchFamily="34" charset="0"/>
              </a:rPr>
              <a:t>: </a:t>
            </a:r>
            <a:r>
              <a:rPr lang="es-ES" dirty="0" smtClean="0">
                <a:latin typeface="Bahnschrift Light Condensed" pitchFamily="34" charset="0"/>
              </a:rPr>
              <a:t>Estructura de Datos II</a:t>
            </a:r>
          </a:p>
          <a:p>
            <a:r>
              <a:rPr lang="es-ES" b="1" u="sng" dirty="0" smtClean="0">
                <a:latin typeface="Bahnschrift SemiBold SemiConden" pitchFamily="34" charset="0"/>
              </a:rPr>
              <a:t>Parcial 1</a:t>
            </a:r>
          </a:p>
          <a:p>
            <a:endParaRPr lang="es-ES" b="1" dirty="0">
              <a:latin typeface="Bahnschrift SemiBold SemiConden" pitchFamily="34" charset="0"/>
            </a:endParaRPr>
          </a:p>
          <a:p>
            <a:endParaRPr lang="es-ES" b="1" dirty="0" smtClean="0">
              <a:latin typeface="Bahnschrift SemiBold SemiConden" pitchFamily="34" charset="0"/>
            </a:endParaRPr>
          </a:p>
          <a:p>
            <a:endParaRPr lang="es-ES" b="1" dirty="0" smtClean="0">
              <a:latin typeface="Bahnschrift SemiBold SemiConden" pitchFamily="34" charset="0"/>
            </a:endParaRPr>
          </a:p>
          <a:p>
            <a:r>
              <a:rPr lang="es-ES" b="1" u="sng" dirty="0" smtClean="0">
                <a:solidFill>
                  <a:schemeClr val="bg1"/>
                </a:solidFill>
                <a:latin typeface="Bahnschrift SemiBold SemiConden" pitchFamily="34" charset="0"/>
              </a:rPr>
              <a:t>Fecha</a:t>
            </a:r>
            <a:r>
              <a:rPr lang="es-ES" dirty="0" smtClean="0">
                <a:solidFill>
                  <a:schemeClr val="bg1"/>
                </a:solidFill>
                <a:latin typeface="Bahnschrift SemiBold SemiConden" pitchFamily="34" charset="0"/>
              </a:rPr>
              <a:t>: </a:t>
            </a:r>
            <a:r>
              <a:rPr lang="es-ES" dirty="0" smtClean="0">
                <a:solidFill>
                  <a:schemeClr val="bg1"/>
                </a:solidFill>
                <a:latin typeface="Bahnschrift Light Condensed" pitchFamily="34" charset="0"/>
              </a:rPr>
              <a:t>27-3-2026</a:t>
            </a:r>
            <a:endParaRPr lang="es-ES" dirty="0">
              <a:solidFill>
                <a:schemeClr val="bg1"/>
              </a:solidFill>
              <a:latin typeface="Bahnschrift Light Condensed" pitchFamily="34" charset="0"/>
            </a:endParaRPr>
          </a:p>
        </p:txBody>
      </p:sp>
      <p:pic>
        <p:nvPicPr>
          <p:cNvPr id="3" name="Di 1.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140115158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12"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 calcmode="lin" valueType="num">
                                      <p:cBhvr additive="base">
                                        <p:cTn id="14" dur="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15" dur="500" fill="hold"/>
                                        <p:tgtEl>
                                          <p:spTgt spid="5">
                                            <p:txEl>
                                              <p:pRg st="0" end="0"/>
                                            </p:txEl>
                                          </p:spTgt>
                                        </p:tgtEl>
                                        <p:attrNameLst>
                                          <p:attrName>ppt_y</p:attrName>
                                        </p:attrNameLst>
                                      </p:cBhvr>
                                      <p:tavLst>
                                        <p:tav tm="0">
                                          <p:val>
                                            <p:strVal val="1+#ppt_h/2"/>
                                          </p:val>
                                        </p:tav>
                                        <p:tav tm="100000">
                                          <p:val>
                                            <p:strVal val="#ppt_y"/>
                                          </p:val>
                                        </p:tav>
                                      </p:tavLst>
                                    </p:anim>
                                  </p:childTnLst>
                                </p:cTn>
                              </p:par>
                              <p:par>
                                <p:cTn id="16" presetID="2" presetClass="entr" presetSubtype="12" fill="hold" nodeType="withEffect">
                                  <p:stCondLst>
                                    <p:cond delay="0"/>
                                  </p:stCondLst>
                                  <p:childTnLst>
                                    <p:set>
                                      <p:cBhvr>
                                        <p:cTn id="17" dur="1" fill="hold">
                                          <p:stCondLst>
                                            <p:cond delay="0"/>
                                          </p:stCondLst>
                                        </p:cTn>
                                        <p:tgtEl>
                                          <p:spTgt spid="5">
                                            <p:txEl>
                                              <p:pRg st="1" end="1"/>
                                            </p:txEl>
                                          </p:spTgt>
                                        </p:tgtEl>
                                        <p:attrNameLst>
                                          <p:attrName>style.visibility</p:attrName>
                                        </p:attrNameLst>
                                      </p:cBhvr>
                                      <p:to>
                                        <p:strVal val="visible"/>
                                      </p:to>
                                    </p:set>
                                    <p:anim calcmode="lin" valueType="num">
                                      <p:cBhvr additive="base">
                                        <p:cTn id="18" dur="500" fill="hold"/>
                                        <p:tgtEl>
                                          <p:spTgt spid="5">
                                            <p:txEl>
                                              <p:pRg st="1" end="1"/>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5">
                                            <p:txEl>
                                              <p:pRg st="1" end="1"/>
                                            </p:txEl>
                                          </p:spTgt>
                                        </p:tgtEl>
                                        <p:attrNameLst>
                                          <p:attrName>ppt_y</p:attrName>
                                        </p:attrNameLst>
                                      </p:cBhvr>
                                      <p:tavLst>
                                        <p:tav tm="0">
                                          <p:val>
                                            <p:strVal val="1+#ppt_h/2"/>
                                          </p:val>
                                        </p:tav>
                                        <p:tav tm="100000">
                                          <p:val>
                                            <p:strVal val="#ppt_y"/>
                                          </p:val>
                                        </p:tav>
                                      </p:tavLst>
                                    </p:anim>
                                  </p:childTnLst>
                                </p:cTn>
                              </p:par>
                              <p:par>
                                <p:cTn id="20" presetID="2" presetClass="entr" presetSubtype="12" fill="hold" nodeType="with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 calcmode="lin" valueType="num">
                                      <p:cBhvr additive="base">
                                        <p:cTn id="22" dur="500" fill="hold"/>
                                        <p:tgtEl>
                                          <p:spTgt spid="5">
                                            <p:txEl>
                                              <p:pRg st="2" end="2"/>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5">
                                            <p:txEl>
                                              <p:pRg st="2" end="2"/>
                                            </p:txEl>
                                          </p:spTgt>
                                        </p:tgtEl>
                                        <p:attrNameLst>
                                          <p:attrName>ppt_y</p:attrName>
                                        </p:attrNameLst>
                                      </p:cBhvr>
                                      <p:tavLst>
                                        <p:tav tm="0">
                                          <p:val>
                                            <p:strVal val="1+#ppt_h/2"/>
                                          </p:val>
                                        </p:tav>
                                        <p:tav tm="100000">
                                          <p:val>
                                            <p:strVal val="#ppt_y"/>
                                          </p:val>
                                        </p:tav>
                                      </p:tavLst>
                                    </p:anim>
                                  </p:childTnLst>
                                </p:cTn>
                              </p:par>
                              <p:par>
                                <p:cTn id="24" presetID="2" presetClass="entr" presetSubtype="12" fill="hold" nodeType="withEffect">
                                  <p:stCondLst>
                                    <p:cond delay="0"/>
                                  </p:stCondLst>
                                  <p:childTnLst>
                                    <p:set>
                                      <p:cBhvr>
                                        <p:cTn id="25" dur="1" fill="hold">
                                          <p:stCondLst>
                                            <p:cond delay="0"/>
                                          </p:stCondLst>
                                        </p:cTn>
                                        <p:tgtEl>
                                          <p:spTgt spid="5">
                                            <p:txEl>
                                              <p:pRg st="6" end="6"/>
                                            </p:txEl>
                                          </p:spTgt>
                                        </p:tgtEl>
                                        <p:attrNameLst>
                                          <p:attrName>style.visibility</p:attrName>
                                        </p:attrNameLst>
                                      </p:cBhvr>
                                      <p:to>
                                        <p:strVal val="visible"/>
                                      </p:to>
                                    </p:set>
                                    <p:anim calcmode="lin" valueType="num">
                                      <p:cBhvr additive="base">
                                        <p:cTn id="26" dur="500" fill="hold"/>
                                        <p:tgtEl>
                                          <p:spTgt spid="5">
                                            <p:txEl>
                                              <p:pRg st="6" end="6"/>
                                            </p:txEl>
                                          </p:spTgt>
                                        </p:tgtEl>
                                        <p:attrNameLst>
                                          <p:attrName>ppt_x</p:attrName>
                                        </p:attrNameLst>
                                      </p:cBhvr>
                                      <p:tavLst>
                                        <p:tav tm="0">
                                          <p:val>
                                            <p:strVal val="0-#ppt_w/2"/>
                                          </p:val>
                                        </p:tav>
                                        <p:tav tm="100000">
                                          <p:val>
                                            <p:strVal val="#ppt_x"/>
                                          </p:val>
                                        </p:tav>
                                      </p:tavLst>
                                    </p:anim>
                                    <p:anim calcmode="lin" valueType="num">
                                      <p:cBhvr additive="base">
                                        <p:cTn id="27"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par>
                          <p:cTn id="28" fill="hold">
                            <p:stCondLst>
                              <p:cond delay="500"/>
                            </p:stCondLst>
                            <p:childTnLst>
                              <p:par>
                                <p:cTn id="29" presetID="1" presetClass="mediacall" presetSubtype="0" fill="hold" nodeType="afterEffect">
                                  <p:stCondLst>
                                    <p:cond delay="0"/>
                                  </p:stCondLst>
                                  <p:childTnLst>
                                    <p:cmd type="call" cmd="playFrom(0.0)">
                                      <p:cBhvr>
                                        <p:cTn id="30" dur="1584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31" fill="hold" display="0">
                  <p:stCondLst>
                    <p:cond delay="indefinite"/>
                  </p:stCondLst>
                  <p:endCondLst>
                    <p:cond evt="onStopAudio" delay="0">
                      <p:tgtEl>
                        <p:sldTgt/>
                      </p:tgtEl>
                    </p:cond>
                  </p:endCondLst>
                </p:cTn>
                <p:tgtEl>
                  <p:spTgt spid="3"/>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928067" y="548680"/>
            <a:ext cx="7416824" cy="5386090"/>
          </a:xfrm>
          <a:prstGeom prst="rect">
            <a:avLst/>
          </a:prstGeom>
          <a:noFill/>
        </p:spPr>
        <p:txBody>
          <a:bodyPr wrap="square" rtlCol="0">
            <a:spAutoFit/>
          </a:bodyPr>
          <a:lstStyle/>
          <a:p>
            <a:pPr algn="r"/>
            <a:r>
              <a:rPr lang="en-US" sz="2400" b="1" dirty="0" smtClean="0">
                <a:latin typeface="Bahnschrift SemiBold SemiConden" pitchFamily="34" charset="0"/>
              </a:rPr>
              <a:t>Problemática</a:t>
            </a:r>
          </a:p>
          <a:p>
            <a:endParaRPr lang="en-US" sz="2000" b="1" dirty="0" smtClean="0"/>
          </a:p>
          <a:p>
            <a:endParaRPr lang="en-US" sz="2000" b="1" dirty="0"/>
          </a:p>
          <a:p>
            <a:r>
              <a:rPr lang="en-US" sz="2000" b="1" dirty="0" smtClean="0">
                <a:latin typeface="Bahnschrift SemiBold SemiConden" pitchFamily="34" charset="0"/>
              </a:rPr>
              <a:t>Situación </a:t>
            </a:r>
            <a:r>
              <a:rPr lang="en-US" sz="2000" b="1" dirty="0">
                <a:latin typeface="Bahnschrift SemiBold SemiConden" pitchFamily="34" charset="0"/>
              </a:rPr>
              <a:t>actual:</a:t>
            </a:r>
            <a:endParaRPr lang="es-ES" sz="2000" b="1" dirty="0">
              <a:latin typeface="Bahnschrift SemiBold SemiConden" pitchFamily="34" charset="0"/>
            </a:endParaRPr>
          </a:p>
          <a:p>
            <a:r>
              <a:rPr lang="en-US" sz="2000" dirty="0">
                <a:latin typeface="Bahnschrift Light Condensed" pitchFamily="34" charset="0"/>
              </a:rPr>
              <a:t>En el municipio Guane, el control de viviendas se lleva en papel (libros, actas, expedientes), lo que genera información dispersa, búsquedas lentas y riesgo de pérdida de datos.</a:t>
            </a:r>
            <a:endParaRPr lang="es-ES" sz="2000" dirty="0">
              <a:latin typeface="Bahnschrift Light Condensed" pitchFamily="34" charset="0"/>
            </a:endParaRPr>
          </a:p>
          <a:p>
            <a:r>
              <a:rPr lang="en-US" sz="2000" dirty="0"/>
              <a:t> </a:t>
            </a:r>
            <a:endParaRPr lang="es-ES" sz="2000" dirty="0"/>
          </a:p>
          <a:p>
            <a:r>
              <a:rPr lang="en-US" sz="2000" b="1" dirty="0">
                <a:latin typeface="Bahnschrift SemiBold SemiConden" pitchFamily="34" charset="0"/>
              </a:rPr>
              <a:t>Objetivo:</a:t>
            </a:r>
            <a:endParaRPr lang="es-ES" sz="2000" b="1" dirty="0">
              <a:latin typeface="Bahnschrift SemiBold SemiConden" pitchFamily="34" charset="0"/>
            </a:endParaRPr>
          </a:p>
          <a:p>
            <a:r>
              <a:rPr lang="en-US" sz="2000" dirty="0">
                <a:latin typeface="Bahnschrift Light Condensed" pitchFamily="34" charset="0"/>
              </a:rPr>
              <a:t>Digitalizar el proceso respetando la jerarquía geográfica: Cuba → Pinar del Río → Guane → Consejos Populares → Viviendas.</a:t>
            </a:r>
            <a:endParaRPr lang="es-ES" sz="2000" dirty="0">
              <a:latin typeface="Bahnschrift Light Condensed" pitchFamily="34" charset="0"/>
            </a:endParaRPr>
          </a:p>
          <a:p>
            <a:r>
              <a:rPr lang="en-US" sz="2000" dirty="0"/>
              <a:t> </a:t>
            </a:r>
            <a:endParaRPr lang="es-ES" sz="2000" dirty="0"/>
          </a:p>
          <a:p>
            <a:r>
              <a:rPr lang="en-US" sz="2000" b="1" dirty="0">
                <a:latin typeface="Bahnschrift SemiBold SemiConden" pitchFamily="34" charset="0"/>
              </a:rPr>
              <a:t>¿Por qué no usar listas o arreglos?</a:t>
            </a:r>
            <a:endParaRPr lang="es-ES" sz="2000" b="1" dirty="0">
              <a:latin typeface="Bahnschrift SemiBold SemiConden" pitchFamily="34" charset="0"/>
            </a:endParaRPr>
          </a:p>
          <a:p>
            <a:r>
              <a:rPr lang="en-US" sz="2000" dirty="0">
                <a:latin typeface="Bahnschrift Light Condensed" pitchFamily="34" charset="0"/>
              </a:rPr>
              <a:t>Porque son estructuras lineales que no representan jerarquías. Para listar las viviendas de un Consejo Popular habría que recorrer toda la lista (O(n)). Un árbol, en cambio, permite ubicar el Consejo Popular y recorrer solo sus ramas, siendo más eficiente y natural para este tipo de organización.</a:t>
            </a:r>
            <a:endParaRPr lang="es-ES" sz="2000" dirty="0">
              <a:latin typeface="Bahnschrift Light Condensed" pitchFamily="34" charset="0"/>
            </a:endParaRPr>
          </a:p>
        </p:txBody>
      </p:sp>
      <p:pic>
        <p:nvPicPr>
          <p:cNvPr id="3" name="Di 2.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3657600" y="595851"/>
            <a:ext cx="609600" cy="609600"/>
          </a:xfrm>
          <a:prstGeom prst="rect">
            <a:avLst/>
          </a:prstGeom>
        </p:spPr>
      </p:pic>
    </p:spTree>
    <p:extLst>
      <p:ext uri="{BB962C8B-B14F-4D97-AF65-F5344CB8AC3E}">
        <p14:creationId xmlns:p14="http://schemas.microsoft.com/office/powerpoint/2010/main" val="140357512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500"/>
                                        <p:tgtEl>
                                          <p:spTgt spid="4">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animEffect transition="in" filter="fade">
                                      <p:cBhvr>
                                        <p:cTn id="15" dur="500"/>
                                        <p:tgtEl>
                                          <p:spTgt spid="4">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5" end="5"/>
                                            </p:txEl>
                                          </p:spTgt>
                                        </p:tgtEl>
                                        <p:attrNameLst>
                                          <p:attrName>style.visibility</p:attrName>
                                        </p:attrNameLst>
                                      </p:cBhvr>
                                      <p:to>
                                        <p:strVal val="visible"/>
                                      </p:to>
                                    </p:set>
                                    <p:animEffect transition="in" filter="fade">
                                      <p:cBhvr>
                                        <p:cTn id="18" dur="500"/>
                                        <p:tgtEl>
                                          <p:spTgt spid="4">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animEffect transition="in" filter="fade">
                                      <p:cBhvr>
                                        <p:cTn id="21" dur="500"/>
                                        <p:tgtEl>
                                          <p:spTgt spid="4">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4">
                                            <p:txEl>
                                              <p:pRg st="7" end="7"/>
                                            </p:txEl>
                                          </p:spTgt>
                                        </p:tgtEl>
                                        <p:attrNameLst>
                                          <p:attrName>style.visibility</p:attrName>
                                        </p:attrNameLst>
                                      </p:cBhvr>
                                      <p:to>
                                        <p:strVal val="visible"/>
                                      </p:to>
                                    </p:set>
                                    <p:animEffect transition="in" filter="fade">
                                      <p:cBhvr>
                                        <p:cTn id="24" dur="500"/>
                                        <p:tgtEl>
                                          <p:spTgt spid="4">
                                            <p:txEl>
                                              <p:pRg st="7" end="7"/>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animEffect transition="in" filter="fade">
                                      <p:cBhvr>
                                        <p:cTn id="27" dur="500"/>
                                        <p:tgtEl>
                                          <p:spTgt spid="4">
                                            <p:txEl>
                                              <p:pRg st="8" end="8"/>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4">
                                            <p:txEl>
                                              <p:pRg st="9" end="9"/>
                                            </p:txEl>
                                          </p:spTgt>
                                        </p:tgtEl>
                                        <p:attrNameLst>
                                          <p:attrName>style.visibility</p:attrName>
                                        </p:attrNameLst>
                                      </p:cBhvr>
                                      <p:to>
                                        <p:strVal val="visible"/>
                                      </p:to>
                                    </p:set>
                                    <p:animEffect transition="in" filter="fade">
                                      <p:cBhvr>
                                        <p:cTn id="30" dur="500"/>
                                        <p:tgtEl>
                                          <p:spTgt spid="4">
                                            <p:txEl>
                                              <p:pRg st="9" end="9"/>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4">
                                            <p:txEl>
                                              <p:pRg st="10" end="10"/>
                                            </p:txEl>
                                          </p:spTgt>
                                        </p:tgtEl>
                                        <p:attrNameLst>
                                          <p:attrName>style.visibility</p:attrName>
                                        </p:attrNameLst>
                                      </p:cBhvr>
                                      <p:to>
                                        <p:strVal val="visible"/>
                                      </p:to>
                                    </p:set>
                                    <p:animEffect transition="in" filter="fade">
                                      <p:cBhvr>
                                        <p:cTn id="33" dur="500"/>
                                        <p:tgtEl>
                                          <p:spTgt spid="4">
                                            <p:txEl>
                                              <p:pRg st="10" end="10"/>
                                            </p:txEl>
                                          </p:spTgt>
                                        </p:tgtEl>
                                      </p:cBhvr>
                                    </p:animEffect>
                                  </p:childTnLst>
                                </p:cTn>
                              </p:par>
                            </p:childTnLst>
                          </p:cTn>
                        </p:par>
                        <p:par>
                          <p:cTn id="34" fill="hold">
                            <p:stCondLst>
                              <p:cond delay="500"/>
                            </p:stCondLst>
                            <p:childTnLst>
                              <p:par>
                                <p:cTn id="35" presetID="1" presetClass="mediacall" presetSubtype="0" fill="hold" nodeType="afterEffect">
                                  <p:stCondLst>
                                    <p:cond delay="0"/>
                                  </p:stCondLst>
                                  <p:childTnLst>
                                    <p:cmd type="call" cmd="playFrom(0.0)">
                                      <p:cBhvr>
                                        <p:cTn id="36" dur="2592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37" fill="hold" display="0">
                  <p:stCondLst>
                    <p:cond delay="indefinite"/>
                  </p:stCondLst>
                  <p:endCondLst>
                    <p:cond evt="onStopAudio" delay="0">
                      <p:tgtEl>
                        <p:sldTgt/>
                      </p:tgtEl>
                    </p:cond>
                  </p:endCondLst>
                </p:cTn>
                <p:tgtEl>
                  <p:spTgt spid="3"/>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395535" y="836712"/>
            <a:ext cx="7949355" cy="5324535"/>
          </a:xfrm>
          <a:prstGeom prst="rect">
            <a:avLst/>
          </a:prstGeom>
          <a:noFill/>
        </p:spPr>
        <p:txBody>
          <a:bodyPr wrap="square" rtlCol="0">
            <a:spAutoFit/>
          </a:bodyPr>
          <a:lstStyle/>
          <a:p>
            <a:pPr algn="r"/>
            <a:r>
              <a:rPr lang="en-US" sz="2400" b="1" dirty="0">
                <a:latin typeface="Bahnschrift SemiBold SemiConden" pitchFamily="34" charset="0"/>
              </a:rPr>
              <a:t>Solución Propuesta</a:t>
            </a:r>
            <a:endParaRPr lang="en-US" sz="2400" b="1" dirty="0" smtClean="0">
              <a:latin typeface="Bahnschrift SemiBold SemiConden" pitchFamily="34" charset="0"/>
            </a:endParaRPr>
          </a:p>
          <a:p>
            <a:pPr algn="just"/>
            <a:endParaRPr lang="en-US" sz="2000" b="1" dirty="0" smtClean="0"/>
          </a:p>
          <a:p>
            <a:pPr algn="just"/>
            <a:endParaRPr lang="en-US" sz="2000" b="1" dirty="0" smtClean="0"/>
          </a:p>
          <a:p>
            <a:pPr algn="just"/>
            <a:endParaRPr lang="en-US" sz="2000" b="1" dirty="0"/>
          </a:p>
          <a:p>
            <a:pPr algn="just"/>
            <a:r>
              <a:rPr lang="en-US" sz="2000" b="1" dirty="0">
                <a:latin typeface="Bahnschrift SemiBold SemiConden" pitchFamily="34" charset="0"/>
              </a:rPr>
              <a:t>Árbol elegido: </a:t>
            </a:r>
            <a:r>
              <a:rPr lang="en-US" sz="2000" dirty="0">
                <a:latin typeface="Bahnschrift Light Condensed" pitchFamily="34" charset="0"/>
              </a:rPr>
              <a:t>Árbol General (N-ario</a:t>
            </a:r>
            <a:r>
              <a:rPr lang="en-US" sz="2000" dirty="0" smtClean="0">
                <a:latin typeface="Bahnschrift Light Condensed" pitchFamily="34" charset="0"/>
              </a:rPr>
              <a:t>)</a:t>
            </a:r>
            <a:endParaRPr lang="es-ES" sz="2000" dirty="0">
              <a:latin typeface="Bahnschrift Light Condensed" pitchFamily="34" charset="0"/>
            </a:endParaRPr>
          </a:p>
          <a:p>
            <a:pPr algn="just"/>
            <a:r>
              <a:rPr lang="en-US" sz="2000" b="1" dirty="0">
                <a:latin typeface="Bahnschrift SemiBold SemiConden" pitchFamily="34" charset="0"/>
              </a:rPr>
              <a:t>Lógica de funcionamiento</a:t>
            </a:r>
            <a:r>
              <a:rPr lang="en-US" sz="2000" b="1" dirty="0" smtClean="0">
                <a:latin typeface="Bahnschrift SemiBold SemiConden" pitchFamily="34" charset="0"/>
              </a:rPr>
              <a:t>:</a:t>
            </a:r>
            <a:endParaRPr lang="es-ES" sz="2000" dirty="0">
              <a:latin typeface="Bahnschrift SemiBold SemiConden" pitchFamily="34" charset="0"/>
            </a:endParaRPr>
          </a:p>
          <a:p>
            <a:pPr marL="342900" indent="-342900" algn="just">
              <a:buFont typeface="Wingdings" pitchFamily="2" charset="2"/>
              <a:buChar char="q"/>
            </a:pPr>
            <a:r>
              <a:rPr lang="en-US" dirty="0" smtClean="0">
                <a:latin typeface="Bahnschrift Light Condensed" pitchFamily="34" charset="0"/>
              </a:rPr>
              <a:t>La </a:t>
            </a:r>
            <a:r>
              <a:rPr lang="en-US" dirty="0">
                <a:latin typeface="Bahnschrift Light Condensed" pitchFamily="34" charset="0"/>
              </a:rPr>
              <a:t>raíz del árbol es Cuba</a:t>
            </a:r>
            <a:endParaRPr lang="es-ES" dirty="0">
              <a:latin typeface="Bahnschrift Light Condensed" pitchFamily="34" charset="0"/>
            </a:endParaRPr>
          </a:p>
          <a:p>
            <a:pPr marL="342900" indent="-342900" algn="just">
              <a:buFont typeface="Wingdings" pitchFamily="2" charset="2"/>
              <a:buChar char="q"/>
            </a:pPr>
            <a:r>
              <a:rPr lang="en-US" dirty="0" smtClean="0">
                <a:latin typeface="Bahnschrift Light Condensed" pitchFamily="34" charset="0"/>
              </a:rPr>
              <a:t>Cada </a:t>
            </a:r>
            <a:r>
              <a:rPr lang="en-US" dirty="0">
                <a:latin typeface="Bahnschrift Light Condensed" pitchFamily="34" charset="0"/>
              </a:rPr>
              <a:t>nodo puede tener </a:t>
            </a:r>
            <a:r>
              <a:rPr lang="en-US" dirty="0" smtClean="0">
                <a:latin typeface="Bahnschrift Light Condensed" pitchFamily="34" charset="0"/>
              </a:rPr>
              <a:t>múltiples</a:t>
            </a:r>
            <a:endParaRPr lang="en-US" dirty="0">
              <a:latin typeface="Bahnschrift Light Condensed" pitchFamily="34" charset="0"/>
            </a:endParaRPr>
          </a:p>
          <a:p>
            <a:pPr algn="just"/>
            <a:r>
              <a:rPr lang="en-US" dirty="0" smtClean="0">
                <a:latin typeface="Bahnschrift Light Condensed" pitchFamily="34" charset="0"/>
              </a:rPr>
              <a:t> </a:t>
            </a:r>
            <a:r>
              <a:rPr lang="en-US" dirty="0">
                <a:latin typeface="Bahnschrift Light Condensed" pitchFamily="34" charset="0"/>
              </a:rPr>
              <a:t>hijos (primerHijo y siguienteHermano)</a:t>
            </a:r>
            <a:endParaRPr lang="es-ES" dirty="0">
              <a:latin typeface="Bahnschrift Light Condensed" pitchFamily="34" charset="0"/>
            </a:endParaRPr>
          </a:p>
          <a:p>
            <a:pPr marL="342900" indent="-342900" algn="just">
              <a:buFont typeface="Wingdings" pitchFamily="2" charset="2"/>
              <a:buChar char="q"/>
            </a:pPr>
            <a:r>
              <a:rPr lang="en-US" dirty="0" smtClean="0">
                <a:latin typeface="Bahnschrift Light Condensed" pitchFamily="34" charset="0"/>
              </a:rPr>
              <a:t>Los </a:t>
            </a:r>
            <a:r>
              <a:rPr lang="en-US" dirty="0">
                <a:latin typeface="Bahnschrift Light Condensed" pitchFamily="34" charset="0"/>
              </a:rPr>
              <a:t>Consejos Populares son </a:t>
            </a:r>
            <a:r>
              <a:rPr lang="en-US" dirty="0" smtClean="0">
                <a:latin typeface="Bahnschrift Light Condensed" pitchFamily="34" charset="0"/>
              </a:rPr>
              <a:t>nodos</a:t>
            </a:r>
          </a:p>
          <a:p>
            <a:pPr algn="just"/>
            <a:r>
              <a:rPr lang="en-US" dirty="0" smtClean="0">
                <a:latin typeface="Bahnschrift Light Condensed" pitchFamily="34" charset="0"/>
              </a:rPr>
              <a:t> </a:t>
            </a:r>
            <a:r>
              <a:rPr lang="en-US" dirty="0">
                <a:latin typeface="Bahnschrift Light Condensed" pitchFamily="34" charset="0"/>
              </a:rPr>
              <a:t>que contienen viviendas como </a:t>
            </a:r>
            <a:r>
              <a:rPr lang="en-US" dirty="0" smtClean="0">
                <a:latin typeface="Bahnschrift Light Condensed" pitchFamily="34" charset="0"/>
              </a:rPr>
              <a:t>hijos</a:t>
            </a:r>
          </a:p>
          <a:p>
            <a:pPr marL="342900" indent="-342900" algn="just">
              <a:buFont typeface="Wingdings" pitchFamily="2" charset="2"/>
              <a:buChar char="q"/>
            </a:pPr>
            <a:endParaRPr lang="en-US" dirty="0"/>
          </a:p>
          <a:p>
            <a:pPr algn="just"/>
            <a:endParaRPr lang="en-US" dirty="0" smtClean="0"/>
          </a:p>
          <a:p>
            <a:pPr marL="342900" indent="-342900" algn="just">
              <a:buFont typeface="Wingdings" pitchFamily="2" charset="2"/>
              <a:buChar char="q"/>
            </a:pPr>
            <a:endParaRPr lang="es-ES" dirty="0"/>
          </a:p>
          <a:p>
            <a:pPr marL="342900" indent="-342900" algn="just">
              <a:buFont typeface="Wingdings" pitchFamily="2" charset="2"/>
              <a:buChar char="q"/>
            </a:pPr>
            <a:r>
              <a:rPr lang="en-US" dirty="0" smtClean="0">
                <a:latin typeface="Bahnschrift Light Condensed" pitchFamily="34" charset="0"/>
              </a:rPr>
              <a:t>Operaciones </a:t>
            </a:r>
            <a:r>
              <a:rPr lang="en-US" dirty="0">
                <a:latin typeface="Bahnschrift Light Condensed" pitchFamily="34" charset="0"/>
              </a:rPr>
              <a:t>implementadas:</a:t>
            </a:r>
            <a:endParaRPr lang="es-ES" dirty="0">
              <a:latin typeface="Bahnschrift Light Condensed" pitchFamily="34" charset="0"/>
            </a:endParaRPr>
          </a:p>
          <a:p>
            <a:pPr marL="342900" indent="-342900" algn="just">
              <a:buFont typeface="Arial" pitchFamily="34" charset="0"/>
              <a:buChar char="•"/>
            </a:pPr>
            <a:r>
              <a:rPr lang="en-US" dirty="0" smtClean="0">
                <a:latin typeface="Bahnschrift Light Condensed" pitchFamily="34" charset="0"/>
              </a:rPr>
              <a:t>Inserción</a:t>
            </a:r>
            <a:r>
              <a:rPr lang="en-US" dirty="0">
                <a:latin typeface="Bahnschrift Light Condensed" pitchFamily="34" charset="0"/>
              </a:rPr>
              <a:t>: agregar viviendas a un Consejo Popular</a:t>
            </a:r>
            <a:endParaRPr lang="es-ES" dirty="0">
              <a:latin typeface="Bahnschrift Light Condensed" pitchFamily="34" charset="0"/>
            </a:endParaRPr>
          </a:p>
          <a:p>
            <a:pPr marL="342900" indent="-342900" algn="just">
              <a:buFont typeface="Arial" pitchFamily="34" charset="0"/>
              <a:buChar char="•"/>
            </a:pPr>
            <a:r>
              <a:rPr lang="en-US" dirty="0" smtClean="0">
                <a:latin typeface="Bahnschrift Light Condensed" pitchFamily="34" charset="0"/>
              </a:rPr>
              <a:t>Búsqueda</a:t>
            </a:r>
            <a:r>
              <a:rPr lang="en-US" dirty="0">
                <a:latin typeface="Bahnschrift Light Condensed" pitchFamily="34" charset="0"/>
              </a:rPr>
              <a:t>: localizar viviendas por propietario</a:t>
            </a:r>
            <a:endParaRPr lang="es-ES" dirty="0">
              <a:latin typeface="Bahnschrift Light Condensed" pitchFamily="34" charset="0"/>
            </a:endParaRPr>
          </a:p>
          <a:p>
            <a:pPr marL="342900" indent="-342900" algn="just">
              <a:buFont typeface="Arial" pitchFamily="34" charset="0"/>
              <a:buChar char="•"/>
            </a:pPr>
            <a:r>
              <a:rPr lang="en-US" dirty="0" smtClean="0">
                <a:latin typeface="Bahnschrift Light Condensed" pitchFamily="34" charset="0"/>
              </a:rPr>
              <a:t>Recorridos</a:t>
            </a:r>
            <a:r>
              <a:rPr lang="en-US" dirty="0">
                <a:latin typeface="Bahnschrift Light Condensed" pitchFamily="34" charset="0"/>
              </a:rPr>
              <a:t>: BFS (por niveles) y DFS (en profundidad)</a:t>
            </a:r>
            <a:endParaRPr lang="es-ES" sz="2000" dirty="0">
              <a:latin typeface="Bahnschrift Light Condensed" pitchFamily="34" charset="0"/>
            </a:endParaRPr>
          </a:p>
        </p:txBody>
      </p:sp>
      <p:pic>
        <p:nvPicPr>
          <p:cNvPr id="6" name="5 Image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70212" y="1942299"/>
            <a:ext cx="4248472" cy="2832314"/>
          </a:xfrm>
          <a:prstGeom prst="rect">
            <a:avLst/>
          </a:prstGeom>
        </p:spPr>
      </p:pic>
      <p:pic>
        <p:nvPicPr>
          <p:cNvPr id="3" name="Di 3.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979712" y="898398"/>
            <a:ext cx="609600" cy="609600"/>
          </a:xfrm>
          <a:prstGeom prst="rect">
            <a:avLst/>
          </a:prstGeom>
        </p:spPr>
      </p:pic>
    </p:spTree>
    <p:extLst>
      <p:ext uri="{BB962C8B-B14F-4D97-AF65-F5344CB8AC3E}">
        <p14:creationId xmlns:p14="http://schemas.microsoft.com/office/powerpoint/2010/main" val="228484500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xEl>
                                              <p:pRg st="4" end="4"/>
                                            </p:txEl>
                                          </p:spTgt>
                                        </p:tgtEl>
                                        <p:attrNameLst>
                                          <p:attrName>style.visibility</p:attrName>
                                        </p:attrNameLst>
                                      </p:cBhvr>
                                      <p:to>
                                        <p:strVal val="visible"/>
                                      </p:to>
                                    </p:set>
                                    <p:animEffect transition="in" filter="barn(inVertical)">
                                      <p:cBhvr>
                                        <p:cTn id="12" dur="500"/>
                                        <p:tgtEl>
                                          <p:spTgt spid="5">
                                            <p:txEl>
                                              <p:pRg st="4" end="4"/>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animEffect transition="in" filter="barn(inVertical)">
                                      <p:cBhvr>
                                        <p:cTn id="15" dur="500"/>
                                        <p:tgtEl>
                                          <p:spTgt spid="5">
                                            <p:txEl>
                                              <p:pRg st="5" end="5"/>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5">
                                            <p:txEl>
                                              <p:pRg st="6" end="6"/>
                                            </p:txEl>
                                          </p:spTgt>
                                        </p:tgtEl>
                                        <p:attrNameLst>
                                          <p:attrName>style.visibility</p:attrName>
                                        </p:attrNameLst>
                                      </p:cBhvr>
                                      <p:to>
                                        <p:strVal val="visible"/>
                                      </p:to>
                                    </p:set>
                                    <p:animEffect transition="in" filter="barn(inVertical)">
                                      <p:cBhvr>
                                        <p:cTn id="18" dur="500"/>
                                        <p:tgtEl>
                                          <p:spTgt spid="5">
                                            <p:txEl>
                                              <p:pRg st="6" end="6"/>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animEffect transition="in" filter="barn(inVertical)">
                                      <p:cBhvr>
                                        <p:cTn id="21" dur="500"/>
                                        <p:tgtEl>
                                          <p:spTgt spid="5">
                                            <p:txEl>
                                              <p:pRg st="7" end="7"/>
                                            </p:txEl>
                                          </p:spTgt>
                                        </p:tgtEl>
                                      </p:cBhvr>
                                    </p:animEffect>
                                  </p:childTnLst>
                                </p:cTn>
                              </p:par>
                              <p:par>
                                <p:cTn id="22" presetID="16" presetClass="entr" presetSubtype="21" fill="hold" nodeType="withEffect">
                                  <p:stCondLst>
                                    <p:cond delay="0"/>
                                  </p:stCondLst>
                                  <p:childTnLst>
                                    <p:set>
                                      <p:cBhvr>
                                        <p:cTn id="23" dur="1" fill="hold">
                                          <p:stCondLst>
                                            <p:cond delay="0"/>
                                          </p:stCondLst>
                                        </p:cTn>
                                        <p:tgtEl>
                                          <p:spTgt spid="5">
                                            <p:txEl>
                                              <p:pRg st="8" end="8"/>
                                            </p:txEl>
                                          </p:spTgt>
                                        </p:tgtEl>
                                        <p:attrNameLst>
                                          <p:attrName>style.visibility</p:attrName>
                                        </p:attrNameLst>
                                      </p:cBhvr>
                                      <p:to>
                                        <p:strVal val="visible"/>
                                      </p:to>
                                    </p:set>
                                    <p:animEffect transition="in" filter="barn(inVertical)">
                                      <p:cBhvr>
                                        <p:cTn id="24" dur="500"/>
                                        <p:tgtEl>
                                          <p:spTgt spid="5">
                                            <p:txEl>
                                              <p:pRg st="8" end="8"/>
                                            </p:txEl>
                                          </p:spTgt>
                                        </p:tgtEl>
                                      </p:cBhvr>
                                    </p:animEffect>
                                  </p:childTnLst>
                                </p:cTn>
                              </p:par>
                              <p:par>
                                <p:cTn id="25" presetID="16" presetClass="entr" presetSubtype="21" fill="hold" nodeType="with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animEffect transition="in" filter="barn(inVertical)">
                                      <p:cBhvr>
                                        <p:cTn id="27" dur="500"/>
                                        <p:tgtEl>
                                          <p:spTgt spid="5">
                                            <p:txEl>
                                              <p:pRg st="9" end="9"/>
                                            </p:txEl>
                                          </p:spTgt>
                                        </p:tgtEl>
                                      </p:cBhvr>
                                    </p:animEffect>
                                  </p:childTnLst>
                                </p:cTn>
                              </p:par>
                              <p:par>
                                <p:cTn id="28" presetID="16" presetClass="entr" presetSubtype="21" fill="hold" nodeType="withEffect">
                                  <p:stCondLst>
                                    <p:cond delay="0"/>
                                  </p:stCondLst>
                                  <p:childTnLst>
                                    <p:set>
                                      <p:cBhvr>
                                        <p:cTn id="29" dur="1" fill="hold">
                                          <p:stCondLst>
                                            <p:cond delay="0"/>
                                          </p:stCondLst>
                                        </p:cTn>
                                        <p:tgtEl>
                                          <p:spTgt spid="5">
                                            <p:txEl>
                                              <p:pRg st="10" end="10"/>
                                            </p:txEl>
                                          </p:spTgt>
                                        </p:tgtEl>
                                        <p:attrNameLst>
                                          <p:attrName>style.visibility</p:attrName>
                                        </p:attrNameLst>
                                      </p:cBhvr>
                                      <p:to>
                                        <p:strVal val="visible"/>
                                      </p:to>
                                    </p:set>
                                    <p:animEffect transition="in" filter="barn(inVertical)">
                                      <p:cBhvr>
                                        <p:cTn id="30" dur="500"/>
                                        <p:tgtEl>
                                          <p:spTgt spid="5">
                                            <p:txEl>
                                              <p:pRg st="10" end="1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1000"/>
                                        <p:tgtEl>
                                          <p:spTgt spid="6"/>
                                        </p:tgtEl>
                                      </p:cBhvr>
                                    </p:animEffect>
                                    <p:anim calcmode="lin" valueType="num">
                                      <p:cBhvr>
                                        <p:cTn id="36" dur="1000" fill="hold"/>
                                        <p:tgtEl>
                                          <p:spTgt spid="6"/>
                                        </p:tgtEl>
                                        <p:attrNameLst>
                                          <p:attrName>ppt_x</p:attrName>
                                        </p:attrNameLst>
                                      </p:cBhvr>
                                      <p:tavLst>
                                        <p:tav tm="0">
                                          <p:val>
                                            <p:strVal val="#ppt_x"/>
                                          </p:val>
                                        </p:tav>
                                        <p:tav tm="100000">
                                          <p:val>
                                            <p:strVal val="#ppt_x"/>
                                          </p:val>
                                        </p:tav>
                                      </p:tavLst>
                                    </p:anim>
                                    <p:anim calcmode="lin" valueType="num">
                                      <p:cBhvr>
                                        <p:cTn id="37" dur="1000" fill="hold"/>
                                        <p:tgtEl>
                                          <p:spTgt spid="6"/>
                                        </p:tgtEl>
                                        <p:attrNameLst>
                                          <p:attrName>ppt_y</p:attrName>
                                        </p:attrNameLst>
                                      </p:cBhvr>
                                      <p:tavLst>
                                        <p:tav tm="0">
                                          <p:val>
                                            <p:strVal val="#ppt_y+.1"/>
                                          </p:val>
                                        </p:tav>
                                        <p:tav tm="100000">
                                          <p:val>
                                            <p:strVal val="#ppt_y"/>
                                          </p:val>
                                        </p:tav>
                                      </p:tavLst>
                                    </p:anim>
                                  </p:childTnLst>
                                </p:cTn>
                              </p:par>
                              <p:par>
                                <p:cTn id="38" presetID="16" presetClass="entr" presetSubtype="21" fill="hold" nodeType="withEffect">
                                  <p:stCondLst>
                                    <p:cond delay="0"/>
                                  </p:stCondLst>
                                  <p:childTnLst>
                                    <p:set>
                                      <p:cBhvr>
                                        <p:cTn id="39" dur="1" fill="hold">
                                          <p:stCondLst>
                                            <p:cond delay="0"/>
                                          </p:stCondLst>
                                        </p:cTn>
                                        <p:tgtEl>
                                          <p:spTgt spid="5">
                                            <p:txEl>
                                              <p:pRg st="14" end="14"/>
                                            </p:txEl>
                                          </p:spTgt>
                                        </p:tgtEl>
                                        <p:attrNameLst>
                                          <p:attrName>style.visibility</p:attrName>
                                        </p:attrNameLst>
                                      </p:cBhvr>
                                      <p:to>
                                        <p:strVal val="visible"/>
                                      </p:to>
                                    </p:set>
                                    <p:animEffect transition="in" filter="barn(inVertical)">
                                      <p:cBhvr>
                                        <p:cTn id="40" dur="500"/>
                                        <p:tgtEl>
                                          <p:spTgt spid="5">
                                            <p:txEl>
                                              <p:pRg st="14" end="14"/>
                                            </p:txEl>
                                          </p:spTgt>
                                        </p:tgtEl>
                                      </p:cBhvr>
                                    </p:animEffect>
                                  </p:childTnLst>
                                </p:cTn>
                              </p:par>
                              <p:par>
                                <p:cTn id="41" presetID="16" presetClass="entr" presetSubtype="21" fill="hold" nodeType="withEffect">
                                  <p:stCondLst>
                                    <p:cond delay="0"/>
                                  </p:stCondLst>
                                  <p:childTnLst>
                                    <p:set>
                                      <p:cBhvr>
                                        <p:cTn id="42" dur="1" fill="hold">
                                          <p:stCondLst>
                                            <p:cond delay="0"/>
                                          </p:stCondLst>
                                        </p:cTn>
                                        <p:tgtEl>
                                          <p:spTgt spid="5">
                                            <p:txEl>
                                              <p:pRg st="15" end="15"/>
                                            </p:txEl>
                                          </p:spTgt>
                                        </p:tgtEl>
                                        <p:attrNameLst>
                                          <p:attrName>style.visibility</p:attrName>
                                        </p:attrNameLst>
                                      </p:cBhvr>
                                      <p:to>
                                        <p:strVal val="visible"/>
                                      </p:to>
                                    </p:set>
                                    <p:animEffect transition="in" filter="barn(inVertical)">
                                      <p:cBhvr>
                                        <p:cTn id="43" dur="500"/>
                                        <p:tgtEl>
                                          <p:spTgt spid="5">
                                            <p:txEl>
                                              <p:pRg st="15" end="15"/>
                                            </p:txEl>
                                          </p:spTgt>
                                        </p:tgtEl>
                                      </p:cBhvr>
                                    </p:animEffect>
                                  </p:childTnLst>
                                </p:cTn>
                              </p:par>
                              <p:par>
                                <p:cTn id="44" presetID="16" presetClass="entr" presetSubtype="21" fill="hold" nodeType="withEffect">
                                  <p:stCondLst>
                                    <p:cond delay="0"/>
                                  </p:stCondLst>
                                  <p:childTnLst>
                                    <p:set>
                                      <p:cBhvr>
                                        <p:cTn id="45" dur="1" fill="hold">
                                          <p:stCondLst>
                                            <p:cond delay="0"/>
                                          </p:stCondLst>
                                        </p:cTn>
                                        <p:tgtEl>
                                          <p:spTgt spid="5">
                                            <p:txEl>
                                              <p:pRg st="16" end="16"/>
                                            </p:txEl>
                                          </p:spTgt>
                                        </p:tgtEl>
                                        <p:attrNameLst>
                                          <p:attrName>style.visibility</p:attrName>
                                        </p:attrNameLst>
                                      </p:cBhvr>
                                      <p:to>
                                        <p:strVal val="visible"/>
                                      </p:to>
                                    </p:set>
                                    <p:animEffect transition="in" filter="barn(inVertical)">
                                      <p:cBhvr>
                                        <p:cTn id="46" dur="500"/>
                                        <p:tgtEl>
                                          <p:spTgt spid="5">
                                            <p:txEl>
                                              <p:pRg st="16" end="16"/>
                                            </p:txEl>
                                          </p:spTgt>
                                        </p:tgtEl>
                                      </p:cBhvr>
                                    </p:animEffect>
                                  </p:childTnLst>
                                </p:cTn>
                              </p:par>
                              <p:par>
                                <p:cTn id="47" presetID="16" presetClass="entr" presetSubtype="21" fill="hold" nodeType="withEffect">
                                  <p:stCondLst>
                                    <p:cond delay="0"/>
                                  </p:stCondLst>
                                  <p:childTnLst>
                                    <p:set>
                                      <p:cBhvr>
                                        <p:cTn id="48" dur="1" fill="hold">
                                          <p:stCondLst>
                                            <p:cond delay="0"/>
                                          </p:stCondLst>
                                        </p:cTn>
                                        <p:tgtEl>
                                          <p:spTgt spid="5">
                                            <p:txEl>
                                              <p:pRg st="17" end="17"/>
                                            </p:txEl>
                                          </p:spTgt>
                                        </p:tgtEl>
                                        <p:attrNameLst>
                                          <p:attrName>style.visibility</p:attrName>
                                        </p:attrNameLst>
                                      </p:cBhvr>
                                      <p:to>
                                        <p:strVal val="visible"/>
                                      </p:to>
                                    </p:set>
                                    <p:animEffect transition="in" filter="barn(inVertical)">
                                      <p:cBhvr>
                                        <p:cTn id="49" dur="500"/>
                                        <p:tgtEl>
                                          <p:spTgt spid="5">
                                            <p:txEl>
                                              <p:pRg st="17" end="17"/>
                                            </p:txEl>
                                          </p:spTgt>
                                        </p:tgtEl>
                                      </p:cBhvr>
                                    </p:animEffect>
                                  </p:childTnLst>
                                </p:cTn>
                              </p:par>
                            </p:childTnLst>
                          </p:cTn>
                        </p:par>
                        <p:par>
                          <p:cTn id="50" fill="hold">
                            <p:stCondLst>
                              <p:cond delay="1000"/>
                            </p:stCondLst>
                            <p:childTnLst>
                              <p:par>
                                <p:cTn id="51" presetID="1" presetClass="mediacall" presetSubtype="0" fill="hold" nodeType="afterEffect">
                                  <p:stCondLst>
                                    <p:cond delay="0"/>
                                  </p:stCondLst>
                                  <p:childTnLst>
                                    <p:cmd type="call" cmd="playFrom(0.0)">
                                      <p:cBhvr>
                                        <p:cTn id="52" dur="248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53" fill="hold" display="0">
                  <p:stCondLst>
                    <p:cond delay="indefinite"/>
                  </p:stCondLst>
                  <p:endCondLst>
                    <p:cond evt="onStopAudio" delay="0">
                      <p:tgtEl>
                        <p:sldTgt/>
                      </p:tgtEl>
                    </p:cond>
                  </p:endCondLst>
                </p:cTn>
                <p:tgtEl>
                  <p:spTgt spid="3"/>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CuadroTexto"/>
          <p:cNvSpPr txBox="1"/>
          <p:nvPr/>
        </p:nvSpPr>
        <p:spPr>
          <a:xfrm>
            <a:off x="928067" y="88482"/>
            <a:ext cx="7416824" cy="461665"/>
          </a:xfrm>
          <a:prstGeom prst="rect">
            <a:avLst/>
          </a:prstGeom>
          <a:noFill/>
        </p:spPr>
        <p:txBody>
          <a:bodyPr wrap="square" rtlCol="0">
            <a:spAutoFit/>
          </a:bodyPr>
          <a:lstStyle/>
          <a:p>
            <a:pPr algn="r"/>
            <a:r>
              <a:rPr lang="en-US" sz="2400" b="1" dirty="0">
                <a:latin typeface="Bahnschrift SemiBold SemiConden" pitchFamily="34" charset="0"/>
              </a:rPr>
              <a:t>Estructura </a:t>
            </a:r>
            <a:r>
              <a:rPr lang="en-US" sz="2400" b="1" dirty="0" smtClean="0">
                <a:latin typeface="Bahnschrift SemiBold SemiConden" pitchFamily="34" charset="0"/>
              </a:rPr>
              <a:t>Base</a:t>
            </a:r>
          </a:p>
        </p:txBody>
      </p:sp>
      <p:pic>
        <p:nvPicPr>
          <p:cNvPr id="11" name="10 Image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71790" y="319315"/>
            <a:ext cx="3244131" cy="2369456"/>
          </a:xfrm>
          <a:prstGeom prst="rect">
            <a:avLst/>
          </a:prstGeom>
        </p:spPr>
      </p:pic>
      <p:sp>
        <p:nvSpPr>
          <p:cNvPr id="12" name="11 CuadroTexto"/>
          <p:cNvSpPr txBox="1"/>
          <p:nvPr/>
        </p:nvSpPr>
        <p:spPr>
          <a:xfrm>
            <a:off x="3804635" y="2204864"/>
            <a:ext cx="4104456" cy="1015663"/>
          </a:xfrm>
          <a:prstGeom prst="rect">
            <a:avLst/>
          </a:prstGeom>
          <a:noFill/>
        </p:spPr>
        <p:txBody>
          <a:bodyPr wrap="square" rtlCol="0">
            <a:spAutoFit/>
          </a:bodyPr>
          <a:lstStyle/>
          <a:p>
            <a:r>
              <a:rPr lang="en-US" sz="1400" b="1" dirty="0">
                <a:latin typeface="Bahnschrift SemiBold SemiConden" pitchFamily="34" charset="0"/>
              </a:rPr>
              <a:t>agregarHijo</a:t>
            </a:r>
            <a:r>
              <a:rPr lang="en-US" sz="1400" b="1" dirty="0" smtClean="0">
                <a:latin typeface="Bahnschrift SemiBold SemiConden" pitchFamily="34" charset="0"/>
              </a:rPr>
              <a:t>()</a:t>
            </a:r>
            <a:endParaRPr lang="en-US" sz="1400" b="1" dirty="0">
              <a:latin typeface="Bahnschrift SemiBold SemiConden" pitchFamily="34" charset="0"/>
            </a:endParaRPr>
          </a:p>
          <a:p>
            <a:r>
              <a:rPr lang="en-US" sz="1400" dirty="0">
                <a:latin typeface="Bahnschrift Light Condensed" pitchFamily="34" charset="0"/>
              </a:rPr>
              <a:t>Inserta un nodo como hijo. Si no hay hijos, es el primero; si hay, recorre hasta el último hermano y enlaza</a:t>
            </a:r>
            <a:r>
              <a:rPr lang="en-US" sz="1400" dirty="0" smtClean="0">
                <a:latin typeface="Bahnschrift Light Condensed" pitchFamily="34" charset="0"/>
              </a:rPr>
              <a:t>.</a:t>
            </a:r>
            <a:endParaRPr lang="en-US" sz="1400" dirty="0">
              <a:latin typeface="Bahnschrift Light Condensed" pitchFamily="34" charset="0"/>
            </a:endParaRPr>
          </a:p>
          <a:p>
            <a:endParaRPr lang="es-ES" dirty="0"/>
          </a:p>
        </p:txBody>
      </p:sp>
      <p:pic>
        <p:nvPicPr>
          <p:cNvPr id="13" name="12 Image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9837" y="1730191"/>
            <a:ext cx="3286099" cy="1996937"/>
          </a:xfrm>
          <a:prstGeom prst="rect">
            <a:avLst/>
          </a:prstGeom>
        </p:spPr>
      </p:pic>
      <p:sp>
        <p:nvSpPr>
          <p:cNvPr id="14" name="13 CuadroTexto"/>
          <p:cNvSpPr txBox="1"/>
          <p:nvPr/>
        </p:nvSpPr>
        <p:spPr>
          <a:xfrm>
            <a:off x="928067" y="3573016"/>
            <a:ext cx="4104456" cy="738664"/>
          </a:xfrm>
          <a:prstGeom prst="rect">
            <a:avLst/>
          </a:prstGeom>
          <a:noFill/>
        </p:spPr>
        <p:txBody>
          <a:bodyPr wrap="square" rtlCol="0">
            <a:spAutoFit/>
          </a:bodyPr>
          <a:lstStyle/>
          <a:p>
            <a:r>
              <a:rPr lang="en-US" sz="1400" b="1" dirty="0">
                <a:latin typeface="Bahnschrift SemiBold SemiConden" pitchFamily="34" charset="0"/>
              </a:rPr>
              <a:t>buscar</a:t>
            </a:r>
            <a:r>
              <a:rPr lang="en-US" sz="1400" b="1" dirty="0" smtClean="0">
                <a:latin typeface="Bahnschrift SemiBold SemiConden" pitchFamily="34" charset="0"/>
              </a:rPr>
              <a:t>()</a:t>
            </a:r>
          </a:p>
          <a:p>
            <a:r>
              <a:rPr lang="en-US" sz="1400" dirty="0">
                <a:latin typeface="Bahnschrift Light Condensed" pitchFamily="34" charset="0"/>
              </a:rPr>
              <a:t>Búsqueda recursiva. Compara el nodo actual, luego recorre todos los hijos. Retorna true si encuentra el elemento</a:t>
            </a:r>
            <a:r>
              <a:rPr lang="en-US" sz="1400" dirty="0" smtClean="0">
                <a:latin typeface="Bahnschrift Light Condensed" pitchFamily="34" charset="0"/>
              </a:rPr>
              <a:t>.</a:t>
            </a:r>
            <a:endParaRPr lang="es-ES" sz="1400" dirty="0">
              <a:latin typeface="Bahnschrift Light Condensed" pitchFamily="34" charset="0"/>
            </a:endParaRPr>
          </a:p>
        </p:txBody>
      </p:sp>
      <p:pic>
        <p:nvPicPr>
          <p:cNvPr id="15" name="14 Image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340850" y="2884885"/>
            <a:ext cx="3221596" cy="2517801"/>
          </a:xfrm>
          <a:prstGeom prst="rect">
            <a:avLst/>
          </a:prstGeom>
        </p:spPr>
      </p:pic>
      <p:pic>
        <p:nvPicPr>
          <p:cNvPr id="16" name="15 Imagen"/>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14911" y="4357640"/>
            <a:ext cx="3190677" cy="2500360"/>
          </a:xfrm>
          <a:prstGeom prst="rect">
            <a:avLst/>
          </a:prstGeom>
        </p:spPr>
      </p:pic>
      <p:sp>
        <p:nvSpPr>
          <p:cNvPr id="17" name="16 CuadroTexto"/>
          <p:cNvSpPr txBox="1"/>
          <p:nvPr/>
        </p:nvSpPr>
        <p:spPr>
          <a:xfrm>
            <a:off x="3864654" y="5212138"/>
            <a:ext cx="4104456" cy="738664"/>
          </a:xfrm>
          <a:prstGeom prst="rect">
            <a:avLst/>
          </a:prstGeom>
          <a:noFill/>
        </p:spPr>
        <p:txBody>
          <a:bodyPr wrap="square" rtlCol="0">
            <a:spAutoFit/>
          </a:bodyPr>
          <a:lstStyle/>
          <a:p>
            <a:r>
              <a:rPr lang="en-US" sz="1400" b="1" dirty="0">
                <a:latin typeface="Bahnschrift SemiBold SemiConden" pitchFamily="34" charset="0"/>
              </a:rPr>
              <a:t>bfs</a:t>
            </a:r>
            <a:r>
              <a:rPr lang="en-US" sz="1400" b="1" dirty="0" smtClean="0">
                <a:latin typeface="Bahnschrift SemiBold SemiConden" pitchFamily="34" charset="0"/>
              </a:rPr>
              <a:t>()</a:t>
            </a:r>
          </a:p>
          <a:p>
            <a:r>
              <a:rPr lang="en-US" sz="1400" dirty="0">
                <a:latin typeface="Bahnschrift Light Condensed" pitchFamily="34" charset="0"/>
              </a:rPr>
              <a:t>Recorrido por niveles usando cola. Procesa nodo, encola sus hijos, repite hasta vaciar cola</a:t>
            </a:r>
            <a:r>
              <a:rPr lang="en-US" sz="1400" dirty="0" smtClean="0">
                <a:latin typeface="Bahnschrift Light Condensed" pitchFamily="34" charset="0"/>
              </a:rPr>
              <a:t>.</a:t>
            </a:r>
            <a:endParaRPr lang="es-ES" sz="1400" dirty="0">
              <a:latin typeface="Bahnschrift Light Condensed" pitchFamily="34" charset="0"/>
            </a:endParaRPr>
          </a:p>
        </p:txBody>
      </p:sp>
      <p:sp>
        <p:nvSpPr>
          <p:cNvPr id="18" name="17 CuadroTexto"/>
          <p:cNvSpPr txBox="1"/>
          <p:nvPr/>
        </p:nvSpPr>
        <p:spPr>
          <a:xfrm>
            <a:off x="928067" y="767606"/>
            <a:ext cx="4443723" cy="984885"/>
          </a:xfrm>
          <a:prstGeom prst="rect">
            <a:avLst/>
          </a:prstGeom>
          <a:noFill/>
        </p:spPr>
        <p:txBody>
          <a:bodyPr wrap="square" rtlCol="0">
            <a:spAutoFit/>
          </a:bodyPr>
          <a:lstStyle/>
          <a:p>
            <a:r>
              <a:rPr lang="en-US" sz="1400" b="1" dirty="0">
                <a:latin typeface="Bahnschrift SemiBold SemiConden" pitchFamily="34" charset="0"/>
              </a:rPr>
              <a:t>NodoGeneral</a:t>
            </a:r>
          </a:p>
          <a:p>
            <a:r>
              <a:rPr lang="en-US" sz="1400" dirty="0">
                <a:latin typeface="Bahnschrift Light Condensed" pitchFamily="34" charset="0"/>
              </a:rPr>
              <a:t>Nodo del árbol. Atributos: info (dato), primerHijo, </a:t>
            </a:r>
          </a:p>
          <a:p>
            <a:r>
              <a:rPr lang="en-US" sz="1400" dirty="0">
                <a:latin typeface="Bahnschrift Light Condensed" pitchFamily="34" charset="0"/>
              </a:rPr>
              <a:t>siguienteHermano. Permite múltiples hijos.</a:t>
            </a:r>
          </a:p>
          <a:p>
            <a:endParaRPr lang="es-ES" sz="1600" dirty="0"/>
          </a:p>
        </p:txBody>
      </p:sp>
      <p:pic>
        <p:nvPicPr>
          <p:cNvPr id="3" name="Di 4.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4356773" y="539261"/>
            <a:ext cx="609600" cy="609600"/>
          </a:xfrm>
          <a:prstGeom prst="rect">
            <a:avLst/>
          </a:prstGeom>
        </p:spPr>
      </p:pic>
    </p:spTree>
    <p:extLst>
      <p:ext uri="{BB962C8B-B14F-4D97-AF65-F5344CB8AC3E}">
        <p14:creationId xmlns:p14="http://schemas.microsoft.com/office/powerpoint/2010/main" val="347199280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par>
                                <p:cTn id="13" presetID="10"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down)">
                                      <p:cBhvr>
                                        <p:cTn id="20" dur="500"/>
                                        <p:tgtEl>
                                          <p:spTgt spid="13"/>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down)">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down)">
                                      <p:cBhvr>
                                        <p:cTn id="28" dur="500"/>
                                        <p:tgtEl>
                                          <p:spTgt spid="14"/>
                                        </p:tgtEl>
                                      </p:cBhvr>
                                    </p:animEffect>
                                  </p:childTnLst>
                                </p:cTn>
                              </p:par>
                              <p:par>
                                <p:cTn id="29" presetID="22" presetClass="entr" presetSubtype="4"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down)">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barn(inVertical)">
                                      <p:cBhvr>
                                        <p:cTn id="36" dur="500"/>
                                        <p:tgtEl>
                                          <p:spTgt spid="16"/>
                                        </p:tgtEl>
                                      </p:cBhvr>
                                    </p:animEffect>
                                  </p:childTnLst>
                                </p:cTn>
                              </p:par>
                              <p:par>
                                <p:cTn id="37" presetID="6" presetClass="entr" presetSubtype="16"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circle(in)">
                                      <p:cBhvr>
                                        <p:cTn id="39" dur="2000"/>
                                        <p:tgtEl>
                                          <p:spTgt spid="17"/>
                                        </p:tgtEl>
                                      </p:cBhvr>
                                    </p:animEffect>
                                  </p:childTnLst>
                                </p:cTn>
                              </p:par>
                            </p:childTnLst>
                          </p:cTn>
                        </p:par>
                        <p:par>
                          <p:cTn id="40" fill="hold">
                            <p:stCondLst>
                              <p:cond delay="2000"/>
                            </p:stCondLst>
                            <p:childTnLst>
                              <p:par>
                                <p:cTn id="41" presetID="1" presetClass="mediacall" presetSubtype="0" fill="hold" nodeType="afterEffect">
                                  <p:stCondLst>
                                    <p:cond delay="0"/>
                                  </p:stCondLst>
                                  <p:childTnLst>
                                    <p:cmd type="call" cmd="playFrom(0.0)">
                                      <p:cBhvr>
                                        <p:cTn id="42" dur="3312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43" fill="hold" display="0">
                  <p:stCondLst>
                    <p:cond delay="indefinite"/>
                  </p:stCondLst>
                  <p:endCondLst>
                    <p:cond evt="onStopAudio" delay="0">
                      <p:tgtEl>
                        <p:sldTgt/>
                      </p:tgtEl>
                    </p:cond>
                  </p:endCondLst>
                </p:cTn>
                <p:tgtEl>
                  <p:spTgt spid="3"/>
                </p:tgtEl>
              </p:cMediaNode>
            </p:audio>
          </p:childTnLst>
        </p:cTn>
      </p:par>
    </p:tnLst>
    <p:bldLst>
      <p:bldP spid="12" grpId="0"/>
      <p:bldP spid="14" grpId="0"/>
      <p:bldP spid="17" grpId="0"/>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928067" y="88482"/>
            <a:ext cx="7416824" cy="461665"/>
          </a:xfrm>
          <a:prstGeom prst="rect">
            <a:avLst/>
          </a:prstGeom>
          <a:noFill/>
        </p:spPr>
        <p:txBody>
          <a:bodyPr wrap="square" rtlCol="0">
            <a:spAutoFit/>
          </a:bodyPr>
          <a:lstStyle/>
          <a:p>
            <a:pPr algn="r"/>
            <a:r>
              <a:rPr lang="en-US" sz="2400" b="1" dirty="0">
                <a:latin typeface="Bahnschrift SemiBold SemiConden" pitchFamily="34" charset="0"/>
              </a:rPr>
              <a:t>Lógica del Caso</a:t>
            </a:r>
            <a:endParaRPr lang="en-US" sz="2400" b="1" dirty="0" smtClean="0">
              <a:latin typeface="Bahnschrift SemiBold SemiConden" pitchFamily="34" charset="0"/>
            </a:endParaRPr>
          </a:p>
        </p:txBody>
      </p:sp>
      <p:pic>
        <p:nvPicPr>
          <p:cNvPr id="3" name="2 Image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19468" y="319315"/>
            <a:ext cx="3200756" cy="2369456"/>
          </a:xfrm>
          <a:prstGeom prst="rect">
            <a:avLst/>
          </a:prstGeom>
        </p:spPr>
      </p:pic>
      <p:sp>
        <p:nvSpPr>
          <p:cNvPr id="4" name="3 CuadroTexto"/>
          <p:cNvSpPr txBox="1"/>
          <p:nvPr/>
        </p:nvSpPr>
        <p:spPr>
          <a:xfrm>
            <a:off x="3905588" y="2220917"/>
            <a:ext cx="4104456" cy="523220"/>
          </a:xfrm>
          <a:prstGeom prst="rect">
            <a:avLst/>
          </a:prstGeom>
          <a:noFill/>
        </p:spPr>
        <p:txBody>
          <a:bodyPr wrap="square" rtlCol="0">
            <a:spAutoFit/>
          </a:bodyPr>
          <a:lstStyle/>
          <a:p>
            <a:r>
              <a:rPr lang="en-US" sz="1400" b="1" dirty="0">
                <a:latin typeface="Bahnschrift SemiBold SemiConden" pitchFamily="34" charset="0"/>
              </a:rPr>
              <a:t>agregarVivienda</a:t>
            </a:r>
            <a:r>
              <a:rPr lang="en-US" sz="1400" b="1" dirty="0" smtClean="0">
                <a:latin typeface="Bahnschrift SemiBold SemiConden" pitchFamily="34" charset="0"/>
              </a:rPr>
              <a:t>()</a:t>
            </a:r>
          </a:p>
          <a:p>
            <a:r>
              <a:rPr lang="en-US" sz="1400" dirty="0">
                <a:latin typeface="Bahnschrift Light Condensed" pitchFamily="34" charset="0"/>
              </a:rPr>
              <a:t>Busca el Consejo Popular y agrega la vivienda como su hijo</a:t>
            </a:r>
            <a:r>
              <a:rPr lang="en-US" sz="1400" dirty="0" smtClean="0">
                <a:latin typeface="Bahnschrift Light Condensed" pitchFamily="34" charset="0"/>
              </a:rPr>
              <a:t>.</a:t>
            </a:r>
            <a:endParaRPr lang="es-ES" dirty="0">
              <a:latin typeface="Bahnschrift Light Condensed" pitchFamily="34" charset="0"/>
            </a:endParaRPr>
          </a:p>
        </p:txBody>
      </p:sp>
      <p:pic>
        <p:nvPicPr>
          <p:cNvPr id="5" name="4 Image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9837" y="2091790"/>
            <a:ext cx="3286099" cy="1193961"/>
          </a:xfrm>
          <a:prstGeom prst="rect">
            <a:avLst/>
          </a:prstGeom>
        </p:spPr>
      </p:pic>
      <p:sp>
        <p:nvSpPr>
          <p:cNvPr id="6" name="5 CuadroTexto"/>
          <p:cNvSpPr txBox="1"/>
          <p:nvPr/>
        </p:nvSpPr>
        <p:spPr>
          <a:xfrm>
            <a:off x="928067" y="3573016"/>
            <a:ext cx="4104456" cy="523220"/>
          </a:xfrm>
          <a:prstGeom prst="rect">
            <a:avLst/>
          </a:prstGeom>
          <a:noFill/>
        </p:spPr>
        <p:txBody>
          <a:bodyPr wrap="square" rtlCol="0">
            <a:spAutoFit/>
          </a:bodyPr>
          <a:lstStyle/>
          <a:p>
            <a:r>
              <a:rPr lang="en-US" sz="1400" b="1" dirty="0">
                <a:latin typeface="Bahnschrift SemiBold SemiConden" pitchFamily="34" charset="0"/>
              </a:rPr>
              <a:t>listarViviendasPorCP</a:t>
            </a:r>
            <a:r>
              <a:rPr lang="en-US" sz="1400" b="1" dirty="0" smtClean="0">
                <a:latin typeface="Bahnschrift SemiBold SemiConden" pitchFamily="34" charset="0"/>
              </a:rPr>
              <a:t>()</a:t>
            </a:r>
          </a:p>
          <a:p>
            <a:r>
              <a:rPr lang="en-US" sz="1400" dirty="0">
                <a:latin typeface="Bahnschrift Light Condensed" pitchFamily="34" charset="0"/>
              </a:rPr>
              <a:t>Recorre los hijos del CP, filtra y muestra solo las viviendas</a:t>
            </a:r>
            <a:r>
              <a:rPr lang="en-US" sz="1400" dirty="0" smtClean="0">
                <a:latin typeface="Bahnschrift Light Condensed" pitchFamily="34" charset="0"/>
              </a:rPr>
              <a:t>.</a:t>
            </a:r>
            <a:endParaRPr lang="es-ES" sz="1400" dirty="0">
              <a:latin typeface="Bahnschrift Light Condensed" pitchFamily="34" charset="0"/>
            </a:endParaRPr>
          </a:p>
        </p:txBody>
      </p:sp>
      <p:pic>
        <p:nvPicPr>
          <p:cNvPr id="7" name="6 Image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340850" y="2959581"/>
            <a:ext cx="3221596" cy="2368409"/>
          </a:xfrm>
          <a:prstGeom prst="rect">
            <a:avLst/>
          </a:prstGeom>
        </p:spPr>
      </p:pic>
      <p:pic>
        <p:nvPicPr>
          <p:cNvPr id="8" name="7 Imagen"/>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14911" y="4618747"/>
            <a:ext cx="3190677" cy="1978146"/>
          </a:xfrm>
          <a:prstGeom prst="rect">
            <a:avLst/>
          </a:prstGeom>
        </p:spPr>
      </p:pic>
      <p:sp>
        <p:nvSpPr>
          <p:cNvPr id="9" name="8 CuadroTexto"/>
          <p:cNvSpPr txBox="1"/>
          <p:nvPr/>
        </p:nvSpPr>
        <p:spPr>
          <a:xfrm>
            <a:off x="3864654" y="5212138"/>
            <a:ext cx="4104456" cy="738664"/>
          </a:xfrm>
          <a:prstGeom prst="rect">
            <a:avLst/>
          </a:prstGeom>
          <a:noFill/>
        </p:spPr>
        <p:txBody>
          <a:bodyPr wrap="square" rtlCol="0">
            <a:spAutoFit/>
          </a:bodyPr>
          <a:lstStyle/>
          <a:p>
            <a:r>
              <a:rPr lang="en-US" sz="1400" b="1" dirty="0">
                <a:latin typeface="Bahnschrift SemiBold SemiConden" pitchFamily="34" charset="0"/>
              </a:rPr>
              <a:t>buscarViviendaPorPropietario</a:t>
            </a:r>
            <a:r>
              <a:rPr lang="en-US" sz="1400" b="1" dirty="0" smtClean="0">
                <a:latin typeface="Bahnschrift SemiBold SemiConden" pitchFamily="34" charset="0"/>
              </a:rPr>
              <a:t>()</a:t>
            </a:r>
          </a:p>
          <a:p>
            <a:r>
              <a:rPr lang="en-US" sz="1400" dirty="0">
                <a:latin typeface="Bahnschrift Light Condensed" pitchFamily="34" charset="0"/>
              </a:rPr>
              <a:t>Recorre todo el árbol recursivamente y muestra viviendas cuyo propietario </a:t>
            </a:r>
            <a:r>
              <a:rPr lang="en-US" sz="1400" dirty="0" smtClean="0">
                <a:latin typeface="Bahnschrift Light Condensed" pitchFamily="34" charset="0"/>
              </a:rPr>
              <a:t>coincide.</a:t>
            </a:r>
            <a:endParaRPr lang="es-ES" sz="1400" dirty="0">
              <a:latin typeface="Bahnschrift Light Condensed" pitchFamily="34" charset="0"/>
            </a:endParaRPr>
          </a:p>
        </p:txBody>
      </p:sp>
      <p:sp>
        <p:nvSpPr>
          <p:cNvPr id="10" name="9 CuadroTexto"/>
          <p:cNvSpPr txBox="1"/>
          <p:nvPr/>
        </p:nvSpPr>
        <p:spPr>
          <a:xfrm>
            <a:off x="928067" y="767606"/>
            <a:ext cx="4443723" cy="738664"/>
          </a:xfrm>
          <a:prstGeom prst="rect">
            <a:avLst/>
          </a:prstGeom>
          <a:noFill/>
        </p:spPr>
        <p:txBody>
          <a:bodyPr wrap="square" rtlCol="0">
            <a:spAutoFit/>
          </a:bodyPr>
          <a:lstStyle/>
          <a:p>
            <a:r>
              <a:rPr lang="en-US" sz="1400" b="1" dirty="0">
                <a:latin typeface="Bahnschrift SemiBold SemiConden" pitchFamily="34" charset="0"/>
              </a:rPr>
              <a:t>inicializarEstructuraBase()</a:t>
            </a:r>
          </a:p>
          <a:p>
            <a:r>
              <a:rPr lang="en-US" sz="1400" dirty="0">
                <a:latin typeface="Bahnschrift Light Condensed" pitchFamily="34" charset="0"/>
              </a:rPr>
              <a:t>Construye jerarquía: Cuba → Pinar del Río → Guane → 8 Consejos Populares con sus datos reales.</a:t>
            </a:r>
            <a:endParaRPr lang="es-ES" sz="1600" dirty="0">
              <a:latin typeface="Bahnschrift Light Condensed" pitchFamily="34" charset="0"/>
            </a:endParaRPr>
          </a:p>
        </p:txBody>
      </p:sp>
      <p:pic>
        <p:nvPicPr>
          <p:cNvPr id="12" name="Di 5.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4267200" y="319315"/>
            <a:ext cx="609600" cy="609600"/>
          </a:xfrm>
          <a:prstGeom prst="rect">
            <a:avLst/>
          </a:prstGeom>
        </p:spPr>
      </p:pic>
    </p:spTree>
    <p:extLst>
      <p:ext uri="{BB962C8B-B14F-4D97-AF65-F5344CB8AC3E}">
        <p14:creationId xmlns:p14="http://schemas.microsoft.com/office/powerpoint/2010/main" val="216040696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10"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ppt_x"/>
                                          </p:val>
                                        </p:tav>
                                        <p:tav tm="100000">
                                          <p:val>
                                            <p:strVal val="#ppt_x"/>
                                          </p:val>
                                        </p:tav>
                                      </p:tavLst>
                                    </p:anim>
                                    <p:anim calcmode="lin" valueType="num">
                                      <p:cBhvr additive="base">
                                        <p:cTn id="21" dur="500" fill="hold"/>
                                        <p:tgtEl>
                                          <p:spTgt spid="5"/>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additive="base">
                                        <p:cTn id="24" dur="500" fill="hold"/>
                                        <p:tgtEl>
                                          <p:spTgt spid="4"/>
                                        </p:tgtEl>
                                        <p:attrNameLst>
                                          <p:attrName>ppt_x</p:attrName>
                                        </p:attrNameLst>
                                      </p:cBhvr>
                                      <p:tavLst>
                                        <p:tav tm="0">
                                          <p:val>
                                            <p:strVal val="#ppt_x"/>
                                          </p:val>
                                        </p:tav>
                                        <p:tav tm="100000">
                                          <p:val>
                                            <p:strVal val="#ppt_x"/>
                                          </p:val>
                                        </p:tav>
                                      </p:tavLst>
                                    </p:anim>
                                    <p:anim calcmode="lin" valueType="num">
                                      <p:cBhvr additive="base">
                                        <p:cTn id="2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barn(inVertical)">
                                      <p:cBhvr>
                                        <p:cTn id="30" dur="500"/>
                                        <p:tgtEl>
                                          <p:spTgt spid="6"/>
                                        </p:tgtEl>
                                      </p:cBhvr>
                                    </p:animEffect>
                                  </p:childTnLst>
                                </p:cTn>
                              </p:par>
                              <p:par>
                                <p:cTn id="31" presetID="16" presetClass="entr" presetSubtype="21" fill="hold"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barn(inVertical)">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wipe(down)">
                                      <p:cBhvr>
                                        <p:cTn id="38" dur="500"/>
                                        <p:tgtEl>
                                          <p:spTgt spid="8"/>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wipe(down)">
                                      <p:cBhvr>
                                        <p:cTn id="41" dur="500"/>
                                        <p:tgtEl>
                                          <p:spTgt spid="9"/>
                                        </p:tgtEl>
                                      </p:cBhvr>
                                    </p:animEffect>
                                  </p:childTnLst>
                                </p:cTn>
                              </p:par>
                            </p:childTnLst>
                          </p:cTn>
                        </p:par>
                        <p:par>
                          <p:cTn id="42" fill="hold">
                            <p:stCondLst>
                              <p:cond delay="500"/>
                            </p:stCondLst>
                            <p:childTnLst>
                              <p:par>
                                <p:cTn id="43" presetID="1" presetClass="mediacall" presetSubtype="0" fill="hold" nodeType="afterEffect">
                                  <p:stCondLst>
                                    <p:cond delay="0"/>
                                  </p:stCondLst>
                                  <p:childTnLst>
                                    <p:cmd type="call" cmd="playFrom(0.0)">
                                      <p:cBhvr>
                                        <p:cTn id="44" dur="36000"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45" fill="hold" display="0">
                  <p:stCondLst>
                    <p:cond delay="indefinite"/>
                  </p:stCondLst>
                  <p:endCondLst>
                    <p:cond evt="onStopAudio" delay="0">
                      <p:tgtEl>
                        <p:sldTgt/>
                      </p:tgtEl>
                    </p:cond>
                  </p:endCondLst>
                </p:cTn>
                <p:tgtEl>
                  <p:spTgt spid="12"/>
                </p:tgtEl>
              </p:cMediaNode>
            </p:audio>
          </p:childTnLst>
        </p:cTn>
      </p:par>
    </p:tnLst>
    <p:bldLst>
      <p:bldP spid="4" grpId="0"/>
      <p:bldP spid="6" grpId="0"/>
      <p:bldP spid="9"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928067" y="548680"/>
            <a:ext cx="7416824" cy="4770537"/>
          </a:xfrm>
          <a:prstGeom prst="rect">
            <a:avLst/>
          </a:prstGeom>
          <a:noFill/>
        </p:spPr>
        <p:txBody>
          <a:bodyPr wrap="square" rtlCol="0">
            <a:spAutoFit/>
          </a:bodyPr>
          <a:lstStyle/>
          <a:p>
            <a:pPr algn="r"/>
            <a:r>
              <a:rPr lang="en-US" sz="2400" b="1" dirty="0" err="1">
                <a:latin typeface="Bahnschrift SemiBold SemiConden" pitchFamily="34" charset="0"/>
              </a:rPr>
              <a:t>Conclusiones</a:t>
            </a:r>
            <a:endParaRPr lang="en-US" sz="2400" b="1" dirty="0" smtClean="0">
              <a:latin typeface="Bahnschrift SemiBold SemiConden" pitchFamily="34" charset="0"/>
            </a:endParaRPr>
          </a:p>
          <a:p>
            <a:endParaRPr lang="en-US" sz="2000" b="1" dirty="0" smtClean="0"/>
          </a:p>
          <a:p>
            <a:endParaRPr lang="en-US" sz="2000" b="1" dirty="0"/>
          </a:p>
          <a:p>
            <a:pPr marL="342900" indent="-342900">
              <a:buFont typeface="Wingdings" pitchFamily="2" charset="2"/>
              <a:buChar char="q"/>
            </a:pPr>
            <a:r>
              <a:rPr lang="en-US" sz="2000" b="1" dirty="0" smtClean="0">
                <a:latin typeface="Bahnschrift SemiBold SemiConden" pitchFamily="34" charset="0"/>
              </a:rPr>
              <a:t>Representación </a:t>
            </a:r>
            <a:r>
              <a:rPr lang="en-US" sz="2000" b="1" dirty="0">
                <a:latin typeface="Bahnschrift SemiBold SemiConden" pitchFamily="34" charset="0"/>
              </a:rPr>
              <a:t>natural: </a:t>
            </a:r>
            <a:r>
              <a:rPr lang="en-US" sz="2000" dirty="0">
                <a:latin typeface="Bahnschrift Light Condensed" pitchFamily="34" charset="0"/>
              </a:rPr>
              <a:t>El árbol general modela fielmente la jerarquía geográfica (País → Provincia → Municipio → CP → Vivienda)</a:t>
            </a:r>
            <a:endParaRPr lang="es-ES" sz="2000" dirty="0">
              <a:latin typeface="Bahnschrift Light Condensed" pitchFamily="34" charset="0"/>
            </a:endParaRPr>
          </a:p>
          <a:p>
            <a:pPr marL="342900" indent="-342900">
              <a:buFont typeface="Wingdings" pitchFamily="2" charset="2"/>
              <a:buChar char="q"/>
            </a:pPr>
            <a:r>
              <a:rPr lang="en-US" sz="2000" b="1" dirty="0" smtClean="0">
                <a:latin typeface="Bahnschrift SemiBold SemiConden" pitchFamily="34" charset="0"/>
              </a:rPr>
              <a:t>Eficiencia</a:t>
            </a:r>
            <a:r>
              <a:rPr lang="en-US" sz="2000" b="1" dirty="0">
                <a:latin typeface="Bahnschrift SemiBold SemiConden" pitchFamily="34" charset="0"/>
              </a:rPr>
              <a:t>: </a:t>
            </a:r>
            <a:r>
              <a:rPr lang="en-US" sz="2000" dirty="0">
                <a:latin typeface="Bahnschrift Light Condensed" pitchFamily="34" charset="0"/>
              </a:rPr>
              <a:t>Para listar viviendas de un CP, se localiza el nodo y se recorren solo sus ramas, sin necesidad de recorrer toda la estructura</a:t>
            </a:r>
            <a:endParaRPr lang="es-ES" sz="2000" dirty="0">
              <a:latin typeface="Bahnschrift Light Condensed" pitchFamily="34" charset="0"/>
            </a:endParaRPr>
          </a:p>
          <a:p>
            <a:pPr marL="342900" indent="-342900">
              <a:buFont typeface="Wingdings" pitchFamily="2" charset="2"/>
              <a:buChar char="q"/>
            </a:pPr>
            <a:r>
              <a:rPr lang="en-US" sz="2000" b="1" dirty="0" smtClean="0">
                <a:latin typeface="Bahnschrift SemiBold SemiConden" pitchFamily="34" charset="0"/>
              </a:rPr>
              <a:t>Flexibilidad</a:t>
            </a:r>
            <a:r>
              <a:rPr lang="en-US" sz="2000" b="1" dirty="0">
                <a:latin typeface="Bahnschrift SemiBold SemiConden" pitchFamily="34" charset="0"/>
              </a:rPr>
              <a:t>: </a:t>
            </a:r>
            <a:r>
              <a:rPr lang="en-US" sz="2000" dirty="0">
                <a:latin typeface="Bahnschrift Light Condensed" pitchFamily="34" charset="0"/>
              </a:rPr>
              <a:t>Permite agregar más niveles (barrios, manzanas) o más datos sin modificar la estructura base</a:t>
            </a:r>
            <a:endParaRPr lang="es-ES" sz="2000" dirty="0">
              <a:latin typeface="Bahnschrift Light Condensed" pitchFamily="34" charset="0"/>
            </a:endParaRPr>
          </a:p>
          <a:p>
            <a:pPr marL="342900" indent="-342900">
              <a:buFont typeface="Wingdings" pitchFamily="2" charset="2"/>
              <a:buChar char="q"/>
            </a:pPr>
            <a:r>
              <a:rPr lang="en-US" sz="2000" b="1" dirty="0" smtClean="0">
                <a:latin typeface="Bahnschrift SemiBold SemiConden" pitchFamily="34" charset="0"/>
              </a:rPr>
              <a:t>Recorridos</a:t>
            </a:r>
            <a:r>
              <a:rPr lang="en-US" sz="2000" b="1" dirty="0">
                <a:latin typeface="Bahnschrift SemiBold SemiConden" pitchFamily="34" charset="0"/>
              </a:rPr>
              <a:t>: </a:t>
            </a:r>
            <a:r>
              <a:rPr lang="en-US" sz="2000" dirty="0">
                <a:latin typeface="Bahnschrift Light Condensed" pitchFamily="34" charset="0"/>
              </a:rPr>
              <a:t>BFS y DFS permiten explorar la </a:t>
            </a:r>
            <a:r>
              <a:rPr lang="en-US" sz="2000" dirty="0" err="1">
                <a:latin typeface="Bahnschrift Light Condensed" pitchFamily="34" charset="0"/>
              </a:rPr>
              <a:t>información</a:t>
            </a:r>
            <a:r>
              <a:rPr lang="en-US" sz="2000" dirty="0">
                <a:latin typeface="Bahnschrift Light Condensed" pitchFamily="34" charset="0"/>
              </a:rPr>
              <a:t> de </a:t>
            </a:r>
            <a:r>
              <a:rPr lang="en-US" sz="2000" dirty="0" err="1">
                <a:latin typeface="Bahnschrift Light Condensed" pitchFamily="34" charset="0"/>
              </a:rPr>
              <a:t>diferentes</a:t>
            </a:r>
            <a:r>
              <a:rPr lang="en-US" sz="2000" dirty="0">
                <a:latin typeface="Bahnschrift Light Condensed" pitchFamily="34" charset="0"/>
              </a:rPr>
              <a:t> </a:t>
            </a:r>
            <a:r>
              <a:rPr lang="en-US" sz="2000" dirty="0" err="1">
                <a:latin typeface="Bahnschrift Light Condensed" pitchFamily="34" charset="0"/>
              </a:rPr>
              <a:t>formas</a:t>
            </a:r>
            <a:r>
              <a:rPr lang="en-US" sz="2000" dirty="0">
                <a:latin typeface="Bahnschrift Light Condensed" pitchFamily="34" charset="0"/>
              </a:rPr>
              <a:t> </a:t>
            </a:r>
            <a:r>
              <a:rPr lang="en-US" sz="2000" dirty="0" err="1">
                <a:latin typeface="Bahnschrift Light Condensed" pitchFamily="34" charset="0"/>
              </a:rPr>
              <a:t>según</a:t>
            </a:r>
            <a:r>
              <a:rPr lang="en-US" sz="2000" dirty="0">
                <a:latin typeface="Bahnschrift Light Condensed" pitchFamily="34" charset="0"/>
              </a:rPr>
              <a:t> la </a:t>
            </a:r>
            <a:r>
              <a:rPr lang="en-US" sz="2000" dirty="0" err="1">
                <a:latin typeface="Bahnschrift Light Condensed" pitchFamily="34" charset="0"/>
              </a:rPr>
              <a:t>necesidad</a:t>
            </a:r>
            <a:endParaRPr lang="es-ES" sz="2000" dirty="0">
              <a:latin typeface="Bahnschrift Light Condensed" pitchFamily="34" charset="0"/>
            </a:endParaRPr>
          </a:p>
          <a:p>
            <a:pPr marL="342900" indent="-342900">
              <a:buFont typeface="Wingdings" pitchFamily="2" charset="2"/>
              <a:buChar char="q"/>
            </a:pPr>
            <a:r>
              <a:rPr lang="en-US" sz="2000" b="1" dirty="0" err="1" smtClean="0">
                <a:latin typeface="Bahnschrift SemiBold SemiConden" pitchFamily="34" charset="0"/>
              </a:rPr>
              <a:t>Reutilización</a:t>
            </a:r>
            <a:r>
              <a:rPr lang="en-US" sz="2000" b="1" dirty="0">
                <a:latin typeface="Bahnschrift SemiBold SemiConden" pitchFamily="34" charset="0"/>
              </a:rPr>
              <a:t>: </a:t>
            </a:r>
            <a:r>
              <a:rPr lang="en-US" sz="2000" dirty="0"/>
              <a:t>La</a:t>
            </a:r>
            <a:r>
              <a:rPr lang="en-US" sz="2000" dirty="0">
                <a:latin typeface="Bahnschrift Light Condensed" pitchFamily="34" charset="0"/>
              </a:rPr>
              <a:t> </a:t>
            </a:r>
            <a:r>
              <a:rPr lang="en-US" sz="2000" dirty="0" err="1">
                <a:latin typeface="Bahnschrift Light Condensed" pitchFamily="34" charset="0"/>
              </a:rPr>
              <a:t>implementación</a:t>
            </a:r>
            <a:r>
              <a:rPr lang="en-US" sz="2000" dirty="0">
                <a:latin typeface="Bahnschrift Light Condensed" pitchFamily="34" charset="0"/>
              </a:rPr>
              <a:t> </a:t>
            </a:r>
            <a:r>
              <a:rPr lang="en-US" sz="2000" dirty="0" err="1">
                <a:latin typeface="Bahnschrift Light Condensed" pitchFamily="34" charset="0"/>
              </a:rPr>
              <a:t>genérica</a:t>
            </a:r>
            <a:r>
              <a:rPr lang="en-US" sz="2000" dirty="0">
                <a:latin typeface="Bahnschrift Light Condensed" pitchFamily="34" charset="0"/>
              </a:rPr>
              <a:t> del </a:t>
            </a:r>
            <a:r>
              <a:rPr lang="en-US" sz="2000" dirty="0" err="1">
                <a:latin typeface="Bahnschrift Light Condensed" pitchFamily="34" charset="0"/>
              </a:rPr>
              <a:t>árbol</a:t>
            </a:r>
            <a:r>
              <a:rPr lang="en-US" sz="2000" dirty="0">
                <a:latin typeface="Bahnschrift Light Condensed" pitchFamily="34" charset="0"/>
              </a:rPr>
              <a:t> </a:t>
            </a:r>
            <a:r>
              <a:rPr lang="en-US" sz="2000" dirty="0" err="1">
                <a:latin typeface="Bahnschrift Light Condensed" pitchFamily="34" charset="0"/>
              </a:rPr>
              <a:t>puede</a:t>
            </a:r>
            <a:r>
              <a:rPr lang="en-US" sz="2000" dirty="0">
                <a:latin typeface="Bahnschrift Light Condensed" pitchFamily="34" charset="0"/>
              </a:rPr>
              <a:t> </a:t>
            </a:r>
            <a:r>
              <a:rPr lang="en-US" sz="2000" dirty="0" err="1">
                <a:latin typeface="Bahnschrift Light Condensed" pitchFamily="34" charset="0"/>
              </a:rPr>
              <a:t>adaptarse</a:t>
            </a:r>
            <a:r>
              <a:rPr lang="en-US" sz="2000" dirty="0">
                <a:latin typeface="Bahnschrift Light Condensed" pitchFamily="34" charset="0"/>
              </a:rPr>
              <a:t> a </a:t>
            </a:r>
            <a:r>
              <a:rPr lang="en-US" sz="2000" dirty="0" err="1">
                <a:latin typeface="Bahnschrift Light Condensed" pitchFamily="34" charset="0"/>
              </a:rPr>
              <a:t>otros</a:t>
            </a:r>
            <a:r>
              <a:rPr lang="en-US" sz="2000" dirty="0">
                <a:latin typeface="Bahnschrift Light Condensed" pitchFamily="34" charset="0"/>
              </a:rPr>
              <a:t> </a:t>
            </a:r>
            <a:r>
              <a:rPr lang="en-US" sz="2000" dirty="0" err="1">
                <a:latin typeface="Bahnschrift Light Condensed" pitchFamily="34" charset="0"/>
              </a:rPr>
              <a:t>problemas</a:t>
            </a:r>
            <a:r>
              <a:rPr lang="en-US" sz="2000" dirty="0">
                <a:latin typeface="Bahnschrift Light Condensed" pitchFamily="34" charset="0"/>
              </a:rPr>
              <a:t> con </a:t>
            </a:r>
            <a:r>
              <a:rPr lang="en-US" sz="2000" dirty="0" err="1">
                <a:latin typeface="Bahnschrift Light Condensed" pitchFamily="34" charset="0"/>
              </a:rPr>
              <a:t>jerarquías</a:t>
            </a:r>
            <a:endParaRPr lang="es-ES" sz="2000" dirty="0">
              <a:latin typeface="Bahnschrift Light Condensed" pitchFamily="34" charset="0"/>
            </a:endParaRPr>
          </a:p>
          <a:p>
            <a:pPr marL="342900" indent="-342900">
              <a:buFont typeface="Wingdings" pitchFamily="2" charset="2"/>
              <a:buChar char="q"/>
            </a:pPr>
            <a:r>
              <a:rPr lang="en-US" sz="2000" b="1" dirty="0" err="1" smtClean="0">
                <a:latin typeface="Bahnschrift SemiBold SemiConden" pitchFamily="34" charset="0"/>
              </a:rPr>
              <a:t>Cumplimiento</a:t>
            </a:r>
            <a:r>
              <a:rPr lang="en-US" sz="2000" b="1" dirty="0">
                <a:latin typeface="Bahnschrift SemiBold SemiConden" pitchFamily="34" charset="0"/>
              </a:rPr>
              <a:t>: </a:t>
            </a:r>
            <a:r>
              <a:rPr lang="en-US" sz="2000" dirty="0">
                <a:latin typeface="Bahnschrift Light Condensed" pitchFamily="34" charset="0"/>
              </a:rPr>
              <a:t>Se </a:t>
            </a:r>
            <a:r>
              <a:rPr lang="en-US" sz="2000" dirty="0" err="1">
                <a:latin typeface="Bahnschrift Light Condensed" pitchFamily="34" charset="0"/>
              </a:rPr>
              <a:t>implementaron</a:t>
            </a:r>
            <a:r>
              <a:rPr lang="en-US" sz="2000" dirty="0">
                <a:latin typeface="Bahnschrift Light Condensed" pitchFamily="34" charset="0"/>
              </a:rPr>
              <a:t> </a:t>
            </a:r>
            <a:r>
              <a:rPr lang="en-US" sz="2000" dirty="0" err="1">
                <a:latin typeface="Bahnschrift Light Condensed" pitchFamily="34" charset="0"/>
              </a:rPr>
              <a:t>todas</a:t>
            </a:r>
            <a:r>
              <a:rPr lang="en-US" sz="2000" dirty="0">
                <a:latin typeface="Bahnschrift Light Condensed" pitchFamily="34" charset="0"/>
              </a:rPr>
              <a:t> </a:t>
            </a:r>
            <a:r>
              <a:rPr lang="en-US" sz="2000" dirty="0" err="1">
                <a:latin typeface="Bahnschrift Light Condensed" pitchFamily="34" charset="0"/>
              </a:rPr>
              <a:t>las</a:t>
            </a:r>
            <a:r>
              <a:rPr lang="en-US" sz="2000" dirty="0">
                <a:latin typeface="Bahnschrift Light Condensed" pitchFamily="34" charset="0"/>
              </a:rPr>
              <a:t> </a:t>
            </a:r>
            <a:r>
              <a:rPr lang="en-US" sz="2000" dirty="0" err="1">
                <a:latin typeface="Bahnschrift Light Condensed" pitchFamily="34" charset="0"/>
              </a:rPr>
              <a:t>operaciones</a:t>
            </a:r>
            <a:r>
              <a:rPr lang="en-US" sz="2000" dirty="0">
                <a:latin typeface="Bahnschrift Light Condensed" pitchFamily="34" charset="0"/>
              </a:rPr>
              <a:t> </a:t>
            </a:r>
            <a:r>
              <a:rPr lang="en-US" sz="2000" dirty="0" err="1">
                <a:latin typeface="Bahnschrift Light Condensed" pitchFamily="34" charset="0"/>
              </a:rPr>
              <a:t>solicitadas</a:t>
            </a:r>
            <a:r>
              <a:rPr lang="en-US" sz="2000" dirty="0">
                <a:latin typeface="Bahnschrift Light Condensed" pitchFamily="34" charset="0"/>
              </a:rPr>
              <a:t> (</a:t>
            </a:r>
            <a:r>
              <a:rPr lang="en-US" sz="2000" dirty="0" err="1">
                <a:latin typeface="Bahnschrift Light Condensed" pitchFamily="34" charset="0"/>
              </a:rPr>
              <a:t>inserción</a:t>
            </a:r>
            <a:r>
              <a:rPr lang="en-US" sz="2000" dirty="0">
                <a:latin typeface="Bahnschrift Light Condensed" pitchFamily="34" charset="0"/>
              </a:rPr>
              <a:t>, </a:t>
            </a:r>
            <a:r>
              <a:rPr lang="en-US" sz="2000" dirty="0" err="1">
                <a:latin typeface="Bahnschrift Light Condensed" pitchFamily="34" charset="0"/>
              </a:rPr>
              <a:t>búsqueda</a:t>
            </a:r>
            <a:r>
              <a:rPr lang="en-US" sz="2000" dirty="0">
                <a:latin typeface="Bahnschrift Light Condensed" pitchFamily="34" charset="0"/>
              </a:rPr>
              <a:t>, </a:t>
            </a:r>
            <a:r>
              <a:rPr lang="en-US" sz="2000" dirty="0" err="1">
                <a:latin typeface="Bahnschrift Light Condensed" pitchFamily="34" charset="0"/>
              </a:rPr>
              <a:t>recorridos</a:t>
            </a:r>
            <a:r>
              <a:rPr lang="en-US" sz="2000" dirty="0">
                <a:latin typeface="Bahnschrift Light Condensed" pitchFamily="34" charset="0"/>
              </a:rPr>
              <a:t>) sin </a:t>
            </a:r>
            <a:r>
              <a:rPr lang="en-US" sz="2000" dirty="0" err="1">
                <a:latin typeface="Bahnschrift Light Condensed" pitchFamily="34" charset="0"/>
              </a:rPr>
              <a:t>usar</a:t>
            </a:r>
            <a:r>
              <a:rPr lang="en-US" sz="2000" dirty="0">
                <a:latin typeface="Bahnschrift Light Condensed" pitchFamily="34" charset="0"/>
              </a:rPr>
              <a:t> </a:t>
            </a:r>
            <a:r>
              <a:rPr lang="en-US" sz="2000" dirty="0" err="1">
                <a:latin typeface="Bahnschrift Light Condensed" pitchFamily="34" charset="0"/>
              </a:rPr>
              <a:t>librerías</a:t>
            </a:r>
            <a:r>
              <a:rPr lang="en-US" sz="2000" dirty="0">
                <a:latin typeface="Bahnschrift Light Condensed" pitchFamily="34" charset="0"/>
              </a:rPr>
              <a:t> </a:t>
            </a:r>
            <a:r>
              <a:rPr lang="en-US" sz="2000" dirty="0" err="1">
                <a:latin typeface="Bahnschrift Light Condensed" pitchFamily="34" charset="0"/>
              </a:rPr>
              <a:t>externas</a:t>
            </a:r>
            <a:endParaRPr lang="es-ES" sz="2000" dirty="0">
              <a:latin typeface="Bahnschrift Light Condensed" pitchFamily="34" charset="0"/>
            </a:endParaRPr>
          </a:p>
        </p:txBody>
      </p:sp>
      <p:pic>
        <p:nvPicPr>
          <p:cNvPr id="4" name="Di 6.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4244593" y="537794"/>
            <a:ext cx="609600" cy="609600"/>
          </a:xfrm>
          <a:prstGeom prst="rect">
            <a:avLst/>
          </a:prstGeom>
        </p:spPr>
      </p:pic>
    </p:spTree>
    <p:extLst>
      <p:ext uri="{BB962C8B-B14F-4D97-AF65-F5344CB8AC3E}">
        <p14:creationId xmlns:p14="http://schemas.microsoft.com/office/powerpoint/2010/main" val="19261899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barn(inVertical)">
                                      <p:cBhvr>
                                        <p:cTn id="12" dur="500"/>
                                        <p:tgtEl>
                                          <p:spTgt spid="2">
                                            <p:txEl>
                                              <p:pRg st="3" end="3"/>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animEffect transition="in" filter="barn(inVertical)">
                                      <p:cBhvr>
                                        <p:cTn id="15" dur="500"/>
                                        <p:tgtEl>
                                          <p:spTgt spid="2">
                                            <p:txEl>
                                              <p:pRg st="4" end="4"/>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2">
                                            <p:txEl>
                                              <p:pRg st="5" end="5"/>
                                            </p:txEl>
                                          </p:spTgt>
                                        </p:tgtEl>
                                        <p:attrNameLst>
                                          <p:attrName>style.visibility</p:attrName>
                                        </p:attrNameLst>
                                      </p:cBhvr>
                                      <p:to>
                                        <p:strVal val="visible"/>
                                      </p:to>
                                    </p:set>
                                    <p:animEffect transition="in" filter="barn(inVertical)">
                                      <p:cBhvr>
                                        <p:cTn id="18" dur="500"/>
                                        <p:tgtEl>
                                          <p:spTgt spid="2">
                                            <p:txEl>
                                              <p:pRg st="5" end="5"/>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2">
                                            <p:txEl>
                                              <p:pRg st="6" end="6"/>
                                            </p:txEl>
                                          </p:spTgt>
                                        </p:tgtEl>
                                        <p:attrNameLst>
                                          <p:attrName>style.visibility</p:attrName>
                                        </p:attrNameLst>
                                      </p:cBhvr>
                                      <p:to>
                                        <p:strVal val="visible"/>
                                      </p:to>
                                    </p:set>
                                    <p:animEffect transition="in" filter="barn(inVertical)">
                                      <p:cBhvr>
                                        <p:cTn id="21" dur="500"/>
                                        <p:tgtEl>
                                          <p:spTgt spid="2">
                                            <p:txEl>
                                              <p:pRg st="6" end="6"/>
                                            </p:txEl>
                                          </p:spTgt>
                                        </p:tgtEl>
                                      </p:cBhvr>
                                    </p:animEffect>
                                  </p:childTnLst>
                                </p:cTn>
                              </p:par>
                              <p:par>
                                <p:cTn id="22" presetID="16" presetClass="entr" presetSubtype="21" fill="hold" nodeType="withEffect">
                                  <p:stCondLst>
                                    <p:cond delay="0"/>
                                  </p:stCondLst>
                                  <p:childTnLst>
                                    <p:set>
                                      <p:cBhvr>
                                        <p:cTn id="23" dur="1" fill="hold">
                                          <p:stCondLst>
                                            <p:cond delay="0"/>
                                          </p:stCondLst>
                                        </p:cTn>
                                        <p:tgtEl>
                                          <p:spTgt spid="2">
                                            <p:txEl>
                                              <p:pRg st="7" end="7"/>
                                            </p:txEl>
                                          </p:spTgt>
                                        </p:tgtEl>
                                        <p:attrNameLst>
                                          <p:attrName>style.visibility</p:attrName>
                                        </p:attrNameLst>
                                      </p:cBhvr>
                                      <p:to>
                                        <p:strVal val="visible"/>
                                      </p:to>
                                    </p:set>
                                    <p:animEffect transition="in" filter="barn(inVertical)">
                                      <p:cBhvr>
                                        <p:cTn id="24" dur="500"/>
                                        <p:tgtEl>
                                          <p:spTgt spid="2">
                                            <p:txEl>
                                              <p:pRg st="7" end="7"/>
                                            </p:txEl>
                                          </p:spTgt>
                                        </p:tgtEl>
                                      </p:cBhvr>
                                    </p:animEffect>
                                  </p:childTnLst>
                                </p:cTn>
                              </p:par>
                              <p:par>
                                <p:cTn id="25" presetID="16" presetClass="entr" presetSubtype="21" fill="hold" nodeType="with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animEffect transition="in" filter="barn(inVertical)">
                                      <p:cBhvr>
                                        <p:cTn id="27" dur="500"/>
                                        <p:tgtEl>
                                          <p:spTgt spid="2">
                                            <p:txEl>
                                              <p:pRg st="8" end="8"/>
                                            </p:txEl>
                                          </p:spTgt>
                                        </p:tgtEl>
                                      </p:cBhvr>
                                    </p:animEffect>
                                  </p:childTnLst>
                                </p:cTn>
                              </p:par>
                            </p:childTnLst>
                          </p:cTn>
                        </p:par>
                        <p:par>
                          <p:cTn id="28" fill="hold">
                            <p:stCondLst>
                              <p:cond delay="500"/>
                            </p:stCondLst>
                            <p:childTnLst>
                              <p:par>
                                <p:cTn id="29" presetID="1" presetClass="mediacall" presetSubtype="0" fill="hold" nodeType="afterEffect">
                                  <p:stCondLst>
                                    <p:cond delay="0"/>
                                  </p:stCondLst>
                                  <p:childTnLst>
                                    <p:cmd type="call" cmd="playFrom(0.0)">
                                      <p:cBhvr>
                                        <p:cTn id="30" dur="296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31" fill="hold" display="0">
                  <p:stCondLst>
                    <p:cond delay="indefinite"/>
                  </p:stCondLst>
                  <p:endCondLst>
                    <p:cond evt="onStopAudio" delay="0">
                      <p:tgtEl>
                        <p:sldTgt/>
                      </p:tgtEl>
                    </p:cond>
                  </p:endCondLst>
                </p:cTn>
                <p:tgtEl>
                  <p:spTgt spid="4"/>
                </p:tgtEl>
              </p:cMediaNode>
            </p:audio>
          </p:childTnLst>
        </p:cTn>
      </p:par>
    </p:tnLst>
  </p:timing>
</p:sld>
</file>

<file path=ppt/theme/theme1.xml><?xml version="1.0" encoding="utf-8"?>
<a:theme xmlns:a="http://schemas.openxmlformats.org/drawingml/2006/main" name="Tema de Office">
  <a:themeElements>
    <a:clrScheme name="Oficin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cin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cin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229</TotalTime>
  <Words>412</Words>
  <Application>Microsoft Office PowerPoint</Application>
  <PresentationFormat>Presentación en pantalla (4:3)</PresentationFormat>
  <Paragraphs>65</Paragraphs>
  <Slides>6</Slides>
  <Notes>0</Notes>
  <HiddenSlides>0</HiddenSlides>
  <MMClips>6</MMClips>
  <ScaleCrop>false</ScaleCrop>
  <HeadingPairs>
    <vt:vector size="4" baseType="variant">
      <vt:variant>
        <vt:lpstr>Tema</vt:lpstr>
      </vt:variant>
      <vt:variant>
        <vt:i4>2</vt:i4>
      </vt:variant>
      <vt:variant>
        <vt:lpstr>Títulos de diapositiva</vt:lpstr>
      </vt:variant>
      <vt:variant>
        <vt:i4>6</vt:i4>
      </vt:variant>
    </vt:vector>
  </HeadingPairs>
  <TitlesOfParts>
    <vt:vector size="8" baseType="lpstr">
      <vt:lpstr>Tema de Office</vt:lpstr>
      <vt:lpstr>Diseño personalizado</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Yosbiel A</dc:creator>
  <cp:lastModifiedBy>Meta</cp:lastModifiedBy>
  <cp:revision>34</cp:revision>
  <dcterms:created xsi:type="dcterms:W3CDTF">2026-03-23T10:20:46Z</dcterms:created>
  <dcterms:modified xsi:type="dcterms:W3CDTF">2026-03-26T05:24:32Z</dcterms:modified>
</cp:coreProperties>
</file>